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evaluation panel, project guide Prof. Amit Chauhan, and course coordinator Dr. Jabir Ali. We are Group CSET400C defending Milestone 1 for CogniCare: Ambient Elderly Cognitive &amp; Routine Care Companion. I am Deepanshu Chauhan (E23CSEU1617), Team Leader, presenting alongside Yash (E23CSEU1493) and Piyush (E23CSEU0853). Our proposal introduces an accessibility-first full-stack system resolving elderly routine abandonment and caregiver burnout.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Deepanshu presenting: Milestone 1 begins with the real-world healthcare context. According to WHO data, over 55 million seniors navigate cognitive decline. Over half fail to adhere to essential medications, causing preventable hospitalizations. Concurrently, adult children spend over 65 hours weekly caregiving, but lack ambient, objective visibility into daily routine execution.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Deepanshu presenting: Our problem statement addresses the breakdown in daily routines and caregiver visibility. Existing apps fail because brain games cause anxiety, medication apps are too complex for motor-impaired seniors, and hardware companions cost over $500. CogniCare solves this by delivering an accessible, open web companion connecting the senior with the caregiver.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Piyush presenting: Milestone 1 maps directly to UN Sustainable Development Goals. We advance SDG 3 (Target 3.4) by promoting mental stimulation and adherence, and SDG 10 (Target 10.2) by eliminating digital accessibility barriers through WCAG 2.2 AA design. Ethically, CogniCare strictly provides non-diagnostic behavioral support signals, uses mathematical scoring to prevent AI hallucinations, and isolates health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Yash presenting: Slide 5 presents our benchmarking matrix. We systematically evaluated brain training apps, medication reminders, and robotic companions. Existing systems either ignore caregivers entirely or require costly hardware. CogniCare is the only platform providing WCAG 2.2 AA accessibility, deterministic routine management, and caregiver visibility on standard web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Yash presenting: Slide 6 outlines our gap analysis. We identified four critical gaps: the accessibility chasm, AI hallucination dangers, cost barriers, and siloed tracking. CogniCare addresses each through concrete engineering innovations: multi-scale density viewports, closed-form math scoring, a resilient dual-mode AI engine, and deterministic state machines.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Yash presenting: Slide 7 details our stakeholder personas and requirements. Margaret represents our senior user who requires tremor-tolerant touch targets and simple voice prompts. Sarah represents the working caregiver who needs real-time adherence indicators and longitudinal trend charts. These personas directly shaped our 7 core functional requirements and strict non-functional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Piyush presenting: Slide 8 illustrates our four-tier modular monolith architecture. The presentation tier uses Next.js 14 App Router for fast PWA rendering and multi-scale accessibility. The backend utilizes Python 3.13 and FastAPI for async performance and automatic OpenAPI generation. PostgreSQL 16 handles ACID transactions for medication routines, while our AI layer combines Gemini 3.8 Live, Extended Thinking, and a resilient local fallback engine.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Piyush presenting: On Slide 9, we review our feasibility assessment and risk register. Our analysis demonstrates that CogniCare is technically viable, economically sustainable, and operationally intuitive. We proactively identified four major risks: AI hallucination, API rate limits, sensory overload, and network loss. We engineered concrete mitigations for each, including validation therapy prompts, an automatic local fallback engine on HTTP 429, opt-in audio controls, and PWA offline caching.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Deepanshu concluding: To conclude our Milestone 1 presentation, Slide 10 outlines our milestone roadmap, team work breakdown, and expected deliverables. With Milestone 0 completed and Milestone 1 presented today, our team maintains a balanced division of responsibilities: I oversee system architecture and AI orchestration, Yash leads frontend development and accessibility, and Piyush directs database design and state machines. We are on track to deliver our fully functional MVP for Milestone 2. Thank you for your time, and we now welcome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1F5F9"/>
                </a:solidFill>
                <a:latin typeface="Calibri"/>
              </a:defRPr>
            </a:pPr>
            <a:r>
              <a:t>BENNETT UNIVERSITY  |  SCHOOL OF ENGINEERING &amp; APPLIED SCIENCES  |  SESSION 2026–27</a:t>
            </a:r>
          </a:p>
        </p:txBody>
      </p:sp>
      <p:sp>
        <p:nvSpPr>
          <p:cNvPr id="4" name="TextBox 3"/>
          <p:cNvSpPr txBox="1"/>
          <p:nvPr/>
        </p:nvSpPr>
        <p:spPr>
          <a:xfrm>
            <a:off x="731520" y="960120"/>
            <a:ext cx="10728655" cy="1828800"/>
          </a:xfrm>
          <a:prstGeom prst="rect">
            <a:avLst/>
          </a:prstGeom>
          <a:noFill/>
        </p:spPr>
        <p:txBody>
          <a:bodyPr wrap="square">
            <a:spAutoFit/>
          </a:bodyPr>
          <a:lstStyle/>
          <a:p>
            <a:pPr>
              <a:defRPr sz="1300" b="1">
                <a:solidFill>
                  <a:srgbClr val="1E3A8A"/>
                </a:solidFill>
                <a:latin typeface="Calibri"/>
              </a:defRPr>
            </a:pPr>
            <a:r>
              <a:t>CSET400C – CAPSTONE PROJECT  •  MILESTONE 1 PROPOSAL &amp; DEFENSE</a:t>
            </a:r>
          </a:p>
          <a:p>
            <a:pPr>
              <a:spcBef>
                <a:spcPts val="200"/>
              </a:spcBef>
              <a:defRPr sz="4600" b="1">
                <a:solidFill>
                  <a:srgbClr val="002B49"/>
                </a:solidFill>
                <a:latin typeface="Calibri"/>
              </a:defRPr>
            </a:pPr>
            <a:r>
              <a:t>CogniCare</a:t>
            </a:r>
          </a:p>
          <a:p>
            <a:pPr>
              <a:spcBef>
                <a:spcPts val="200"/>
              </a:spcBef>
              <a:defRPr sz="2200" b="1">
                <a:solidFill>
                  <a:srgbClr val="0D9488"/>
                </a:solidFill>
                <a:latin typeface="Calibri"/>
              </a:defRPr>
            </a:pPr>
            <a:r>
              <a:t>Ambient Elderly Cognitive &amp; Routine Care Companion</a:t>
            </a:r>
          </a:p>
          <a:p>
            <a:pPr>
              <a:spcBef>
                <a:spcPts val="400"/>
              </a:spcBef>
              <a:defRPr sz="1300">
                <a:solidFill>
                  <a:srgbClr val="475569"/>
                </a:solidFill>
                <a:latin typeface="Calibri"/>
              </a:defRPr>
            </a:pPr>
            <a:r>
              <a:t>An accessible, AI-assisted web platform bridging daily routine adherence, low-stress cognitive exercises, and caregiver longitudinal visibility.</a:t>
            </a:r>
          </a:p>
        </p:txBody>
      </p:sp>
      <p:sp>
        <p:nvSpPr>
          <p:cNvPr id="5" name="Rounded Rectangle 4"/>
          <p:cNvSpPr/>
          <p:nvPr/>
        </p:nvSpPr>
        <p:spPr>
          <a:xfrm>
            <a:off x="731520" y="3108960"/>
            <a:ext cx="3322015" cy="25603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TEAM LEADER</a:t>
            </a:r>
          </a:p>
          <a:p>
            <a:pPr>
              <a:defRPr sz="1800" b="1">
                <a:solidFill>
                  <a:srgbClr val="0F172A"/>
                </a:solidFill>
                <a:latin typeface="Calibri"/>
              </a:defRPr>
            </a:pPr>
            <a:r>
              <a:t>Deepanshu Chauhan</a:t>
            </a:r>
          </a:p>
          <a:p>
            <a:pPr>
              <a:spcBef>
                <a:spcPts val="300"/>
              </a:spcBef>
              <a:spcAft>
                <a:spcPts val="800"/>
              </a:spcAft>
              <a:defRPr sz="1300" b="1">
                <a:solidFill>
                  <a:srgbClr val="1E3A8A"/>
                </a:solidFill>
                <a:latin typeface="Calibri"/>
              </a:defRPr>
            </a:pPr>
            <a:r>
              <a:t>Enrollment No: E23CSEU1617</a:t>
            </a:r>
          </a:p>
          <a:p>
            <a:pPr>
              <a:defRPr sz="1150">
                <a:solidFill>
                  <a:srgbClr val="475569"/>
                </a:solidFill>
                <a:latin typeface="Calibri"/>
              </a:defRPr>
            </a:pPr>
            <a:r>
              <a:t>Core Domain Focus:</a:t>
            </a:r>
            <a:br/>
            <a:r>
              <a:t>System Architecture, AI Orchestration,</a:t>
            </a:r>
            <a:br/>
            <a:r>
              <a:t>FastAPI Async Backend, Docker Topology</a:t>
            </a:r>
          </a:p>
        </p:txBody>
      </p:sp>
      <p:sp>
        <p:nvSpPr>
          <p:cNvPr id="6" name="Rounded Rectangle 5"/>
          <p:cNvSpPr/>
          <p:nvPr/>
        </p:nvSpPr>
        <p:spPr>
          <a:xfrm>
            <a:off x="4434840" y="3108960"/>
            <a:ext cx="3322015" cy="25603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TEAM MEMBER 1</a:t>
            </a:r>
          </a:p>
          <a:p>
            <a:pPr>
              <a:defRPr sz="1800" b="1">
                <a:solidFill>
                  <a:srgbClr val="0F172A"/>
                </a:solidFill>
                <a:latin typeface="Calibri"/>
              </a:defRPr>
            </a:pPr>
            <a:r>
              <a:t>Yash</a:t>
            </a:r>
          </a:p>
          <a:p>
            <a:pPr>
              <a:spcBef>
                <a:spcPts val="300"/>
              </a:spcBef>
              <a:spcAft>
                <a:spcPts val="800"/>
              </a:spcAft>
              <a:defRPr sz="1300" b="1">
                <a:solidFill>
                  <a:srgbClr val="1E3A8A"/>
                </a:solidFill>
                <a:latin typeface="Calibri"/>
              </a:defRPr>
            </a:pPr>
            <a:r>
              <a:t>Enrollment No: E23CSEU1493</a:t>
            </a:r>
          </a:p>
          <a:p>
            <a:pPr>
              <a:defRPr sz="1150">
                <a:solidFill>
                  <a:srgbClr val="475569"/>
                </a:solidFill>
                <a:latin typeface="Calibri"/>
              </a:defRPr>
            </a:pPr>
            <a:r>
              <a:t>Core Domain Focus:</a:t>
            </a:r>
            <a:br/>
            <a:r>
              <a:t>Next.js 14 Frontend, WCAG 2.2 AA UI,</a:t>
            </a:r>
            <a:br/>
            <a:r>
              <a:t>Interactive Cognitive Games &amp; Viewports</a:t>
            </a:r>
          </a:p>
        </p:txBody>
      </p:sp>
      <p:sp>
        <p:nvSpPr>
          <p:cNvPr id="7" name="Rounded Rectangle 6"/>
          <p:cNvSpPr/>
          <p:nvPr/>
        </p:nvSpPr>
        <p:spPr>
          <a:xfrm>
            <a:off x="8138160" y="3108960"/>
            <a:ext cx="3322015" cy="25603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TEAM MEMBER 2</a:t>
            </a:r>
          </a:p>
          <a:p>
            <a:pPr>
              <a:defRPr sz="1800" b="1">
                <a:solidFill>
                  <a:srgbClr val="0F172A"/>
                </a:solidFill>
                <a:latin typeface="Calibri"/>
              </a:defRPr>
            </a:pPr>
            <a:r>
              <a:t>Piyush</a:t>
            </a:r>
          </a:p>
          <a:p>
            <a:pPr>
              <a:spcBef>
                <a:spcPts val="300"/>
              </a:spcBef>
              <a:spcAft>
                <a:spcPts val="800"/>
              </a:spcAft>
              <a:defRPr sz="1300" b="1">
                <a:solidFill>
                  <a:srgbClr val="1E3A8A"/>
                </a:solidFill>
                <a:latin typeface="Calibri"/>
              </a:defRPr>
            </a:pPr>
            <a:r>
              <a:t>Enrollment No: E23CSEU0853</a:t>
            </a:r>
          </a:p>
          <a:p>
            <a:pPr>
              <a:defRPr sz="1150">
                <a:solidFill>
                  <a:srgbClr val="475569"/>
                </a:solidFill>
                <a:latin typeface="Calibri"/>
              </a:defRPr>
            </a:pPr>
            <a:r>
              <a:t>Core Domain Focus:</a:t>
            </a:r>
            <a:br/>
            <a:r>
              <a:t>Relational Database Design, State Machines,</a:t>
            </a:r>
            <a:br/>
            <a:r>
              <a:t>Deterministic Scoring &amp; Test Verification</a:t>
            </a:r>
          </a:p>
        </p:txBody>
      </p:sp>
      <p:sp>
        <p:nvSpPr>
          <p:cNvPr id="8" name="TextBox 7"/>
          <p:cNvSpPr txBox="1"/>
          <p:nvPr/>
        </p:nvSpPr>
        <p:spPr>
          <a:xfrm>
            <a:off x="731520" y="5897880"/>
            <a:ext cx="10728655" cy="411480"/>
          </a:xfrm>
          <a:prstGeom prst="rect">
            <a:avLst/>
          </a:prstGeom>
          <a:noFill/>
        </p:spPr>
        <p:txBody>
          <a:bodyPr wrap="none">
            <a:spAutoFit/>
          </a:bodyPr>
          <a:lstStyle/>
          <a:p>
            <a:pPr algn="ctr">
              <a:defRPr sz="1150">
                <a:solidFill>
                  <a:srgbClr val="475569"/>
                </a:solidFill>
                <a:latin typeface="Calibri"/>
              </a:defRPr>
            </a:pPr>
            <a:r>
              <a:t>Department of Computer Science &amp; Engineering  |  Project Guide: Amit Chauhan  |  Course Coordinator: Dr. Jabir Ali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2E8F0"/>
                </a:solidFill>
                <a:latin typeface="Calibri"/>
              </a:defRPr>
            </a:pPr>
            <a:r>
              <a:t>BENNETT UNIVERSITY  •  SCHOOL OF ENGINEERING &amp; APPLIED SCIENCES  •  CSET400C CAPSTONE PROJECT</a:t>
            </a:r>
          </a:p>
        </p:txBody>
      </p:sp>
      <p:sp>
        <p:nvSpPr>
          <p:cNvPr id="4" name="TextBox 3"/>
          <p:cNvSpPr txBox="1"/>
          <p:nvPr/>
        </p:nvSpPr>
        <p:spPr>
          <a:xfrm>
            <a:off x="731520" y="502920"/>
            <a:ext cx="10728655" cy="777240"/>
          </a:xfrm>
          <a:prstGeom prst="rect">
            <a:avLst/>
          </a:prstGeom>
          <a:noFill/>
        </p:spPr>
        <p:txBody>
          <a:bodyPr wrap="square">
            <a:spAutoFit/>
          </a:bodyPr>
          <a:lstStyle/>
          <a:p>
            <a:pPr>
              <a:defRPr sz="1100" b="1">
                <a:solidFill>
                  <a:srgbClr val="1E3A8A"/>
                </a:solidFill>
                <a:latin typeface="Calibri"/>
              </a:defRPr>
            </a:pPr>
            <a:r>
              <a:t>01 • BACKGROUND &amp; CLINICAL CONTEXT</a:t>
            </a:r>
          </a:p>
          <a:p>
            <a:pPr>
              <a:defRPr sz="2400" b="1">
                <a:solidFill>
                  <a:srgbClr val="0F172A"/>
                </a:solidFill>
                <a:latin typeface="Calibri"/>
              </a:defRPr>
            </a:pPr>
            <a:r>
              <a:t>The Dual Crisis in Elder Care &amp; Remote Family Caregiving</a:t>
            </a:r>
          </a:p>
        </p:txBody>
      </p:sp>
      <p:sp>
        <p:nvSpPr>
          <p:cNvPr id="5" name="Rounded Rectangle 4"/>
          <p:cNvSpPr/>
          <p:nvPr/>
        </p:nvSpPr>
        <p:spPr>
          <a:xfrm>
            <a:off x="731520" y="1417320"/>
            <a:ext cx="5212080"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1. Senior Cognitive Vulnerability</a:t>
            </a:r>
          </a:p>
          <a:p>
            <a:pPr>
              <a:spcAft>
                <a:spcPts val="400"/>
              </a:spcAft>
              <a:defRPr sz="2000" b="1">
                <a:solidFill>
                  <a:srgbClr val="B91C1C"/>
                </a:solidFill>
                <a:latin typeface="Calibri"/>
              </a:defRPr>
            </a:pPr>
            <a:r>
              <a:t>55 Million+ Seniors Worldwide</a:t>
            </a:r>
          </a:p>
          <a:p>
            <a:pPr>
              <a:spcAft>
                <a:spcPts val="1400"/>
              </a:spcAft>
              <a:defRPr sz="1200">
                <a:solidFill>
                  <a:srgbClr val="475569"/>
                </a:solidFill>
                <a:latin typeface="Calibri"/>
              </a:defRPr>
            </a:pPr>
            <a:r>
              <a:t>Living with dementia and Mild Cognitive Impairment (MCI) globally.</a:t>
            </a:r>
          </a:p>
          <a:p>
            <a:pPr>
              <a:lnSpc>
                <a:spcPct val="135000"/>
              </a:lnSpc>
              <a:defRPr sz="1250">
                <a:solidFill>
                  <a:srgbClr val="0F172A"/>
                </a:solidFill>
                <a:latin typeface="Calibri"/>
              </a:defRPr>
            </a:pPr>
            <a:r>
              <a:t>• &gt;50% Medication Non-Adherence: Memory lapses lead to missed or doubled doses, triggering preventable emergency room visits.</a:t>
            </a:r>
            <a:br/>
            <a:br/>
            <a:r>
              <a:t>• Circadian Routine Disorientation: Forgetting meal schedules, hydration, and doctor appointments.</a:t>
            </a:r>
            <a:br/>
            <a:br/>
            <a:r>
              <a:t>• Digital Alienation: Modern apps use tiny 12px fonts and complex menus that induce anxiety and tech abandonment.</a:t>
            </a:r>
          </a:p>
        </p:txBody>
      </p:sp>
      <p:sp>
        <p:nvSpPr>
          <p:cNvPr id="6" name="Rounded Rectangle 5"/>
          <p:cNvSpPr/>
          <p:nvPr/>
        </p:nvSpPr>
        <p:spPr>
          <a:xfrm>
            <a:off x="6217920" y="1417320"/>
            <a:ext cx="5242255"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0D9488"/>
                </a:solidFill>
                <a:latin typeface="Calibri"/>
              </a:defRPr>
            </a:pPr>
            <a:r>
              <a:t>2. Family Caregiver Invisible Burden</a:t>
            </a:r>
          </a:p>
          <a:p>
            <a:pPr>
              <a:spcAft>
                <a:spcPts val="400"/>
              </a:spcAft>
              <a:defRPr sz="2000" b="1">
                <a:solidFill>
                  <a:srgbClr val="1E3A8A"/>
                </a:solidFill>
                <a:latin typeface="Calibri"/>
              </a:defRPr>
            </a:pPr>
            <a:r>
              <a:t>65+ Hours Per Week</a:t>
            </a:r>
          </a:p>
          <a:p>
            <a:pPr>
              <a:spcAft>
                <a:spcPts val="1400"/>
              </a:spcAft>
              <a:defRPr sz="1200">
                <a:solidFill>
                  <a:srgbClr val="475569"/>
                </a:solidFill>
                <a:latin typeface="Calibri"/>
              </a:defRPr>
            </a:pPr>
            <a:r>
              <a:t>Spent by adult children managing elder care while balancing jobs and families.</a:t>
            </a:r>
          </a:p>
          <a:p>
            <a:pPr>
              <a:lnSpc>
                <a:spcPct val="135000"/>
              </a:lnSpc>
              <a:defRPr sz="1250">
                <a:solidFill>
                  <a:srgbClr val="0F172A"/>
                </a:solidFill>
                <a:latin typeface="Calibri"/>
              </a:defRPr>
            </a:pPr>
            <a:r>
              <a:t>• Acute Information Deficit: Remote caregivers have no reliable way to verify if medicines were actually consumed.</a:t>
            </a:r>
            <a:br/>
            <a:br/>
            <a:r>
              <a:t>• Constant Alarm Fatigue: Existing trackers trigger trivial noise without actionable behavioral context.</a:t>
            </a:r>
            <a:br/>
            <a:br/>
            <a:r>
              <a:t>• Retrospective Discovery: Cognitive decline is only detected after a fall, clinical visit, or acute medical emergency.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2E8F0"/>
                </a:solidFill>
                <a:latin typeface="Calibri"/>
              </a:defRPr>
            </a:pPr>
            <a:r>
              <a:t>BENNETT UNIVERSITY  •  SCHOOL OF ENGINEERING &amp; APPLIED SCIENCES  •  CSET400C CAPSTONE PROJECT</a:t>
            </a:r>
          </a:p>
        </p:txBody>
      </p:sp>
      <p:sp>
        <p:nvSpPr>
          <p:cNvPr id="4" name="TextBox 3"/>
          <p:cNvSpPr txBox="1"/>
          <p:nvPr/>
        </p:nvSpPr>
        <p:spPr>
          <a:xfrm>
            <a:off x="731520" y="502920"/>
            <a:ext cx="10728655" cy="777240"/>
          </a:xfrm>
          <a:prstGeom prst="rect">
            <a:avLst/>
          </a:prstGeom>
          <a:noFill/>
        </p:spPr>
        <p:txBody>
          <a:bodyPr wrap="square">
            <a:spAutoFit/>
          </a:bodyPr>
          <a:lstStyle/>
          <a:p>
            <a:pPr>
              <a:defRPr sz="1100" b="1">
                <a:solidFill>
                  <a:srgbClr val="1E3A8A"/>
                </a:solidFill>
                <a:latin typeface="Calibri"/>
              </a:defRPr>
            </a:pPr>
            <a:r>
              <a:t>02 • PROBLEM STATEMENT &amp; MOTIVATION</a:t>
            </a:r>
          </a:p>
          <a:p>
            <a:pPr>
              <a:defRPr sz="2400" b="1">
                <a:solidFill>
                  <a:srgbClr val="0F172A"/>
                </a:solidFill>
                <a:latin typeface="Calibri"/>
              </a:defRPr>
            </a:pPr>
            <a:r>
              <a:t>Formulating the Core Capstone Problem &amp; Technical Objectives</a:t>
            </a:r>
          </a:p>
        </p:txBody>
      </p:sp>
      <p:sp>
        <p:nvSpPr>
          <p:cNvPr id="5" name="Rounded Rectangle 4"/>
          <p:cNvSpPr/>
          <p:nvPr/>
        </p:nvSpPr>
        <p:spPr>
          <a:xfrm>
            <a:off x="731520" y="1417320"/>
            <a:ext cx="10728655" cy="2103120"/>
          </a:xfrm>
          <a:prstGeom prst="roundRect">
            <a:avLst/>
          </a:prstGeom>
          <a:solidFill>
            <a:srgbClr val="FE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B91C1C"/>
                </a:solidFill>
                <a:latin typeface="Calibri"/>
              </a:defRPr>
            </a:pPr>
            <a:r>
              <a:t>The Formal Problem Statement</a:t>
            </a:r>
          </a:p>
          <a:p>
            <a:pPr>
              <a:lnSpc>
                <a:spcPct val="135000"/>
              </a:lnSpc>
              <a:defRPr sz="1500" b="1">
                <a:solidFill>
                  <a:srgbClr val="991B1B"/>
                </a:solidFill>
                <a:latin typeface="Calibri"/>
              </a:defRPr>
            </a:pPr>
            <a:r>
              <a:t>"Elderly individuals coping with mild cognitive decline struggle with fragmented daily routines, severe medication non-adherence, and tech-induced frustration, while remote family caregivers suffer from chronic psychological burnout due to an acute lack of objective, ambient visibility into their loved one's day-to-day routine adherence and cognitive trajectories."</a:t>
            </a:r>
          </a:p>
        </p:txBody>
      </p:sp>
      <p:sp>
        <p:nvSpPr>
          <p:cNvPr id="6" name="Rounded Rectangle 5"/>
          <p:cNvSpPr/>
          <p:nvPr/>
        </p:nvSpPr>
        <p:spPr>
          <a:xfrm>
            <a:off x="731520" y="3703320"/>
            <a:ext cx="5212080" cy="2606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Why Existing Approaches Fail</a:t>
            </a:r>
          </a:p>
          <a:p>
            <a:pPr>
              <a:lnSpc>
                <a:spcPct val="130000"/>
              </a:lnSpc>
              <a:defRPr sz="1200">
                <a:solidFill>
                  <a:srgbClr val="0F172A"/>
                </a:solidFill>
                <a:latin typeface="Calibri"/>
              </a:defRPr>
            </a:pPr>
            <a:r>
              <a:t>• Consumer Apps (Lumosity, Medisafe): Polarized between high-stress brain tests and cluttered 12px pill reminder dialogs.</a:t>
            </a:r>
            <a:br/>
            <a:r>
              <a:t>• Clinical Tools (MoCA, MMSE): Administered quarterly; capture stressful snapshots rather than daily longitudinal trends.</a:t>
            </a:r>
            <a:br/>
            <a:r>
              <a:t>• Proprietary Hardware: Requires expensive $500+ devices with monthly recurring subscription locks.</a:t>
            </a:r>
          </a:p>
        </p:txBody>
      </p:sp>
      <p:sp>
        <p:nvSpPr>
          <p:cNvPr id="7" name="Rounded Rectangle 6"/>
          <p:cNvSpPr/>
          <p:nvPr/>
        </p:nvSpPr>
        <p:spPr>
          <a:xfrm>
            <a:off x="6217920" y="3703320"/>
            <a:ext cx="5242255" cy="2606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047857"/>
                </a:solidFill>
                <a:latin typeface="Calibri"/>
              </a:defRPr>
            </a:pPr>
            <a:r>
              <a:t>CogniCare's Solution Paradigm</a:t>
            </a:r>
          </a:p>
          <a:p>
            <a:pPr>
              <a:lnSpc>
                <a:spcPct val="130000"/>
              </a:lnSpc>
              <a:defRPr sz="1200">
                <a:solidFill>
                  <a:srgbClr val="0F172A"/>
                </a:solidFill>
                <a:latin typeface="Calibri"/>
              </a:defRPr>
            </a:pPr>
            <a:r>
              <a:t>• Zero-Barrier Senior Companion: 76px+ touch targets, high contrast, opt-in speech, and low-stress daily memory games.</a:t>
            </a:r>
            <a:br/>
            <a:r>
              <a:t>• Caregiver Control Tower: Live status radar, medication adherence tracking, and 14/30-day objective performance trends.</a:t>
            </a:r>
            <a:br/>
            <a:r>
              <a:t>• Universal Web PWA: Zero app store friction, running on standard tablets and laptops without proprietary hardware.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2E8F0"/>
                </a:solidFill>
                <a:latin typeface="Calibri"/>
              </a:defRPr>
            </a:pPr>
            <a:r>
              <a:t>BENNETT UNIVERSITY  •  SCHOOL OF ENGINEERING &amp; APPLIED SCIENCES  •  CSET400C CAPSTONE PROJECT</a:t>
            </a:r>
          </a:p>
        </p:txBody>
      </p:sp>
      <p:sp>
        <p:nvSpPr>
          <p:cNvPr id="4" name="TextBox 3"/>
          <p:cNvSpPr txBox="1"/>
          <p:nvPr/>
        </p:nvSpPr>
        <p:spPr>
          <a:xfrm>
            <a:off x="731520" y="502920"/>
            <a:ext cx="10728655" cy="777240"/>
          </a:xfrm>
          <a:prstGeom prst="rect">
            <a:avLst/>
          </a:prstGeom>
          <a:noFill/>
        </p:spPr>
        <p:txBody>
          <a:bodyPr wrap="square">
            <a:spAutoFit/>
          </a:bodyPr>
          <a:lstStyle/>
          <a:p>
            <a:pPr>
              <a:defRPr sz="1100" b="1">
                <a:solidFill>
                  <a:srgbClr val="1E3A8A"/>
                </a:solidFill>
                <a:latin typeface="Calibri"/>
              </a:defRPr>
            </a:pPr>
            <a:r>
              <a:t>03 • UN SDG ALIGNMENT &amp; ETHICAL GUARDRAILS</a:t>
            </a:r>
          </a:p>
          <a:p>
            <a:pPr>
              <a:defRPr sz="2400" b="1">
                <a:solidFill>
                  <a:srgbClr val="0F172A"/>
                </a:solidFill>
                <a:latin typeface="Calibri"/>
              </a:defRPr>
            </a:pPr>
            <a:r>
              <a:t>Direct Mapping to Global Goals and Responsible Healthcare AI</a:t>
            </a:r>
          </a:p>
        </p:txBody>
      </p:sp>
      <p:sp>
        <p:nvSpPr>
          <p:cNvPr id="5" name="Rounded Rectangle 4"/>
          <p:cNvSpPr/>
          <p:nvPr/>
        </p:nvSpPr>
        <p:spPr>
          <a:xfrm>
            <a:off x="731520" y="1417320"/>
            <a:ext cx="3322015"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0D9488"/>
                </a:solidFill>
                <a:latin typeface="Calibri"/>
              </a:defRPr>
            </a:pPr>
            <a:r>
              <a:t>SDG 3: Good Health &amp; Well-Being</a:t>
            </a:r>
          </a:p>
          <a:p>
            <a:pPr>
              <a:spcAft>
                <a:spcPts val="1200"/>
              </a:spcAft>
              <a:defRPr sz="1150" b="1">
                <a:solidFill>
                  <a:srgbClr val="0F172A"/>
                </a:solidFill>
                <a:latin typeface="Calibri"/>
              </a:defRPr>
            </a:pPr>
            <a:r>
              <a:t>Target 3.4: Mental Health &amp; Well-Being</a:t>
            </a:r>
          </a:p>
          <a:p>
            <a:pPr>
              <a:lnSpc>
                <a:spcPct val="130000"/>
              </a:lnSpc>
              <a:spcAft>
                <a:spcPts val="800"/>
              </a:spcAft>
              <a:defRPr sz="1200">
                <a:solidFill>
                  <a:srgbClr val="475569"/>
                </a:solidFill>
                <a:latin typeface="Calibri"/>
              </a:defRPr>
            </a:pPr>
            <a:r>
              <a:t>• Cognitive longevity via daily low-stress memory stimulation.</a:t>
            </a:r>
          </a:p>
          <a:p>
            <a:pPr>
              <a:lnSpc>
                <a:spcPct val="130000"/>
              </a:lnSpc>
              <a:spcAft>
                <a:spcPts val="800"/>
              </a:spcAft>
              <a:defRPr sz="1200">
                <a:solidFill>
                  <a:srgbClr val="475569"/>
                </a:solidFill>
                <a:latin typeface="Calibri"/>
              </a:defRPr>
            </a:pPr>
            <a:r>
              <a:t>• Elevates medication adherence to prevent acute health crises.</a:t>
            </a:r>
          </a:p>
          <a:p>
            <a:pPr>
              <a:lnSpc>
                <a:spcPct val="130000"/>
              </a:lnSpc>
              <a:spcAft>
                <a:spcPts val="800"/>
              </a:spcAft>
              <a:defRPr sz="1200">
                <a:solidFill>
                  <a:srgbClr val="475569"/>
                </a:solidFill>
                <a:latin typeface="Calibri"/>
              </a:defRPr>
            </a:pPr>
            <a:r>
              <a:t>• Combats elderly social isolation with conversational companion.</a:t>
            </a:r>
          </a:p>
          <a:p>
            <a:pPr>
              <a:lnSpc>
                <a:spcPct val="130000"/>
              </a:lnSpc>
              <a:spcAft>
                <a:spcPts val="800"/>
              </a:spcAft>
              <a:defRPr sz="1200">
                <a:solidFill>
                  <a:srgbClr val="475569"/>
                </a:solidFill>
                <a:latin typeface="Calibri"/>
              </a:defRPr>
            </a:pPr>
            <a:r>
              <a:t>• Mitigates chronic caregiver burnout and depression.</a:t>
            </a:r>
          </a:p>
        </p:txBody>
      </p:sp>
      <p:sp>
        <p:nvSpPr>
          <p:cNvPr id="6" name="Rounded Rectangle 5"/>
          <p:cNvSpPr/>
          <p:nvPr/>
        </p:nvSpPr>
        <p:spPr>
          <a:xfrm>
            <a:off x="4434840" y="1417320"/>
            <a:ext cx="3322015"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SDG 10: Reduced Inequalities</a:t>
            </a:r>
          </a:p>
          <a:p>
            <a:pPr>
              <a:spcAft>
                <a:spcPts val="1200"/>
              </a:spcAft>
              <a:defRPr sz="1150" b="1">
                <a:solidFill>
                  <a:srgbClr val="0F172A"/>
                </a:solidFill>
                <a:latin typeface="Calibri"/>
              </a:defRPr>
            </a:pPr>
            <a:r>
              <a:t>Target 10.2: Universal Digital Inclusion</a:t>
            </a:r>
          </a:p>
          <a:p>
            <a:pPr>
              <a:lnSpc>
                <a:spcPct val="130000"/>
              </a:lnSpc>
              <a:spcAft>
                <a:spcPts val="800"/>
              </a:spcAft>
              <a:defRPr sz="1200">
                <a:solidFill>
                  <a:srgbClr val="475569"/>
                </a:solidFill>
                <a:latin typeface="Calibri"/>
              </a:defRPr>
            </a:pPr>
            <a:r>
              <a:t>• Bridges the digital divide with multi-scale viewports (Normal, Large, XL).</a:t>
            </a:r>
          </a:p>
          <a:p>
            <a:pPr>
              <a:lnSpc>
                <a:spcPct val="130000"/>
              </a:lnSpc>
              <a:spcAft>
                <a:spcPts val="800"/>
              </a:spcAft>
              <a:defRPr sz="1200">
                <a:solidFill>
                  <a:srgbClr val="475569"/>
                </a:solidFill>
                <a:latin typeface="Calibri"/>
              </a:defRPr>
            </a:pPr>
            <a:r>
              <a:t>• WCAG 2.2 AA compliant with 76px+ targets for tremor tolerance.</a:t>
            </a:r>
          </a:p>
          <a:p>
            <a:pPr>
              <a:lnSpc>
                <a:spcPct val="130000"/>
              </a:lnSpc>
              <a:spcAft>
                <a:spcPts val="800"/>
              </a:spcAft>
              <a:defRPr sz="1200">
                <a:solidFill>
                  <a:srgbClr val="475569"/>
                </a:solidFill>
                <a:latin typeface="Calibri"/>
              </a:defRPr>
            </a:pPr>
            <a:r>
              <a:t>• Open Progressive Web App eliminates $500+ device lock-in.</a:t>
            </a:r>
          </a:p>
          <a:p>
            <a:pPr>
              <a:lnSpc>
                <a:spcPct val="130000"/>
              </a:lnSpc>
              <a:spcAft>
                <a:spcPts val="800"/>
              </a:spcAft>
              <a:defRPr sz="1200">
                <a:solidFill>
                  <a:srgbClr val="475569"/>
                </a:solidFill>
                <a:latin typeface="Calibri"/>
              </a:defRPr>
            </a:pPr>
            <a:r>
              <a:t>• Accessible across budget smartphones, tablets, and laptops.</a:t>
            </a:r>
          </a:p>
        </p:txBody>
      </p:sp>
      <p:sp>
        <p:nvSpPr>
          <p:cNvPr id="7" name="Rounded Rectangle 6"/>
          <p:cNvSpPr/>
          <p:nvPr/>
        </p:nvSpPr>
        <p:spPr>
          <a:xfrm>
            <a:off x="8138160" y="1417320"/>
            <a:ext cx="3322015"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B91C1C"/>
                </a:solidFill>
                <a:latin typeface="Calibri"/>
              </a:defRPr>
            </a:pPr>
            <a:r>
              <a:t>ETHICS: Clinical &amp; AI Safety Guardrails</a:t>
            </a:r>
          </a:p>
          <a:p>
            <a:pPr>
              <a:spcAft>
                <a:spcPts val="1200"/>
              </a:spcAft>
              <a:defRPr sz="1150" b="1">
                <a:solidFill>
                  <a:srgbClr val="0F172A"/>
                </a:solidFill>
                <a:latin typeface="Calibri"/>
              </a:defRPr>
            </a:pPr>
            <a:r>
              <a:t>Responsible AI &amp; Patient Privacy</a:t>
            </a:r>
          </a:p>
          <a:p>
            <a:pPr>
              <a:lnSpc>
                <a:spcPct val="130000"/>
              </a:lnSpc>
              <a:spcAft>
                <a:spcPts val="800"/>
              </a:spcAft>
              <a:defRPr sz="1200">
                <a:solidFill>
                  <a:srgbClr val="475569"/>
                </a:solidFill>
                <a:latin typeface="Calibri"/>
              </a:defRPr>
            </a:pPr>
            <a:r>
              <a:t>• Strict Non-Diagnostic Boundary: Outputs support signals only.</a:t>
            </a:r>
          </a:p>
          <a:p>
            <a:pPr>
              <a:lnSpc>
                <a:spcPct val="130000"/>
              </a:lnSpc>
              <a:spcAft>
                <a:spcPts val="800"/>
              </a:spcAft>
              <a:defRPr sz="1200">
                <a:solidFill>
                  <a:srgbClr val="475569"/>
                </a:solidFill>
                <a:latin typeface="Calibri"/>
              </a:defRPr>
            </a:pPr>
            <a:r>
              <a:t>• Deterministic math scoring: Zero generative LLM hallucinations.</a:t>
            </a:r>
          </a:p>
          <a:p>
            <a:pPr>
              <a:lnSpc>
                <a:spcPct val="130000"/>
              </a:lnSpc>
              <a:spcAft>
                <a:spcPts val="800"/>
              </a:spcAft>
              <a:defRPr sz="1200">
                <a:solidFill>
                  <a:srgbClr val="475569"/>
                </a:solidFill>
                <a:latin typeface="Calibri"/>
              </a:defRPr>
            </a:pPr>
            <a:r>
              <a:t>• Validation therapy conversational style to soothe memory anxiety.</a:t>
            </a:r>
          </a:p>
          <a:p>
            <a:pPr>
              <a:lnSpc>
                <a:spcPct val="130000"/>
              </a:lnSpc>
              <a:spcAft>
                <a:spcPts val="800"/>
              </a:spcAft>
              <a:defRPr sz="1200">
                <a:solidFill>
                  <a:srgbClr val="475569"/>
                </a:solidFill>
                <a:latin typeface="Calibri"/>
              </a:defRPr>
            </a:pPr>
            <a:r>
              <a:t>• Granular RBAC consent model with HIPAA/GDPR data isolation.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2E8F0"/>
                </a:solidFill>
                <a:latin typeface="Calibri"/>
              </a:defRPr>
            </a:pPr>
            <a:r>
              <a:t>BENNETT UNIVERSITY  •  SCHOOL OF ENGINEERING &amp; APPLIED SCIENCES  •  CSET400C CAPSTONE PROJECT</a:t>
            </a:r>
          </a:p>
        </p:txBody>
      </p:sp>
      <p:sp>
        <p:nvSpPr>
          <p:cNvPr id="4" name="TextBox 3"/>
          <p:cNvSpPr txBox="1"/>
          <p:nvPr/>
        </p:nvSpPr>
        <p:spPr>
          <a:xfrm>
            <a:off x="731520" y="502920"/>
            <a:ext cx="10728655" cy="777240"/>
          </a:xfrm>
          <a:prstGeom prst="rect">
            <a:avLst/>
          </a:prstGeom>
          <a:noFill/>
        </p:spPr>
        <p:txBody>
          <a:bodyPr wrap="square">
            <a:spAutoFit/>
          </a:bodyPr>
          <a:lstStyle/>
          <a:p>
            <a:pPr>
              <a:defRPr sz="1100" b="1">
                <a:solidFill>
                  <a:srgbClr val="1E3A8A"/>
                </a:solidFill>
                <a:latin typeface="Calibri"/>
              </a:defRPr>
            </a:pPr>
            <a:r>
              <a:t>04 • LITERATURE REVIEW &amp; BENCHMARKING</a:t>
            </a:r>
          </a:p>
          <a:p>
            <a:pPr>
              <a:defRPr sz="2400" b="1">
                <a:solidFill>
                  <a:srgbClr val="0F172A"/>
                </a:solidFill>
                <a:latin typeface="Calibri"/>
              </a:defRPr>
            </a:pPr>
            <a:r>
              <a:t>Critical Review of Existing Technologies in Cognitive &amp; Elder Care</a:t>
            </a:r>
          </a:p>
        </p:txBody>
      </p:sp>
      <p:graphicFrame>
        <p:nvGraphicFramePr>
          <p:cNvPr id="5" name="Table 4"/>
          <p:cNvGraphicFramePr>
            <a:graphicFrameLocks noGrp="1"/>
          </p:cNvGraphicFramePr>
          <p:nvPr/>
        </p:nvGraphicFramePr>
        <p:xfrm>
          <a:off x="731520" y="1417320"/>
          <a:ext cx="10728655" cy="3931920"/>
        </p:xfrm>
        <a:graphic>
          <a:graphicData uri="http://schemas.openxmlformats.org/drawingml/2006/table">
            <a:tbl>
              <a:tblPr firstRow="1" bandRow="1">
                <a:tableStyleId>{5C22544A-7EE6-4342-B048-85BDC9FD1C3A}</a:tableStyleId>
              </a:tblPr>
              <a:tblGrid>
                <a:gridCol w="2133295"/>
                <a:gridCol w="2148840"/>
                <a:gridCol w="2148840"/>
                <a:gridCol w="2148840"/>
                <a:gridCol w="2148840"/>
              </a:tblGrid>
              <a:tr h="786384">
                <a:tc>
                  <a:txBody>
                    <a:bodyPr/>
                    <a:lstStyle/>
                    <a:p>
                      <a:pPr algn="ctr">
                        <a:defRPr sz="1100" b="1">
                          <a:solidFill>
                            <a:srgbClr val="FFFFFF"/>
                          </a:solidFill>
                          <a:latin typeface="Calibri"/>
                        </a:defRPr>
                      </a:pPr>
                      <a:r>
                        <a:t>Evaluation Metric</a:t>
                      </a:r>
                    </a:p>
                  </a:txBody>
                  <a:tcPr>
                    <a:solidFill>
                      <a:srgbClr val="002B49"/>
                    </a:solidFill>
                  </a:tcPr>
                </a:tc>
                <a:tc>
                  <a:txBody>
                    <a:bodyPr/>
                    <a:lstStyle/>
                    <a:p>
                      <a:pPr algn="ctr">
                        <a:defRPr sz="1100" b="1">
                          <a:solidFill>
                            <a:srgbClr val="FFFFFF"/>
                          </a:solidFill>
                          <a:latin typeface="Calibri"/>
                        </a:defRPr>
                      </a:pPr>
                      <a:r>
                        <a:t>Brain Games (Lumosity)</a:t>
                      </a:r>
                    </a:p>
                  </a:txBody>
                  <a:tcPr>
                    <a:solidFill>
                      <a:srgbClr val="002B49"/>
                    </a:solidFill>
                  </a:tcPr>
                </a:tc>
                <a:tc>
                  <a:txBody>
                    <a:bodyPr/>
                    <a:lstStyle/>
                    <a:p>
                      <a:pPr algn="ctr">
                        <a:defRPr sz="1100" b="1">
                          <a:solidFill>
                            <a:srgbClr val="FFFFFF"/>
                          </a:solidFill>
                          <a:latin typeface="Calibri"/>
                        </a:defRPr>
                      </a:pPr>
                      <a:r>
                        <a:t>Medication Apps (Medisafe)</a:t>
                      </a:r>
                    </a:p>
                  </a:txBody>
                  <a:tcPr>
                    <a:solidFill>
                      <a:srgbClr val="002B49"/>
                    </a:solidFill>
                  </a:tcPr>
                </a:tc>
                <a:tc>
                  <a:txBody>
                    <a:bodyPr/>
                    <a:lstStyle/>
                    <a:p>
                      <a:pPr algn="ctr">
                        <a:defRPr sz="1100" b="1">
                          <a:solidFill>
                            <a:srgbClr val="FFFFFF"/>
                          </a:solidFill>
                          <a:latin typeface="Calibri"/>
                        </a:defRPr>
                      </a:pPr>
                      <a:r>
                        <a:t>Robotics (ElliQ)</a:t>
                      </a:r>
                    </a:p>
                  </a:txBody>
                  <a:tcPr>
                    <a:solidFill>
                      <a:srgbClr val="002B49"/>
                    </a:solidFill>
                  </a:tcPr>
                </a:tc>
                <a:tc>
                  <a:txBody>
                    <a:bodyPr/>
                    <a:lstStyle/>
                    <a:p>
                      <a:pPr algn="ctr">
                        <a:defRPr sz="1100" b="1">
                          <a:solidFill>
                            <a:srgbClr val="FFFFFF"/>
                          </a:solidFill>
                          <a:latin typeface="Calibri"/>
                        </a:defRPr>
                      </a:pPr>
                      <a:r>
                        <a:t>CogniCare (Proposed)</a:t>
                      </a:r>
                    </a:p>
                  </a:txBody>
                  <a:tcPr>
                    <a:solidFill>
                      <a:srgbClr val="1E3A8A"/>
                    </a:solidFill>
                  </a:tcPr>
                </a:tc>
              </a:tr>
              <a:tr h="786384">
                <a:tc>
                  <a:txBody>
                    <a:bodyPr/>
                    <a:lstStyle/>
                    <a:p>
                      <a:pPr>
                        <a:defRPr sz="1100" b="1">
                          <a:solidFill>
                            <a:srgbClr val="0F172A"/>
                          </a:solidFill>
                          <a:latin typeface="Calibri"/>
                        </a:defRPr>
                      </a:pPr>
                      <a:r>
                        <a:t>Target Demographics</a:t>
                      </a:r>
                    </a:p>
                  </a:txBody>
                  <a:tcPr>
                    <a:solidFill>
                      <a:srgbClr val="F1F5F9"/>
                    </a:solidFill>
                  </a:tcPr>
                </a:tc>
                <a:tc>
                  <a:txBody>
                    <a:bodyPr/>
                    <a:lstStyle/>
                    <a:p>
                      <a:pPr>
                        <a:defRPr sz="1100">
                          <a:solidFill>
                            <a:srgbClr val="475569"/>
                          </a:solidFill>
                          <a:latin typeface="Calibri"/>
                        </a:defRPr>
                      </a:pPr>
                      <a:r>
                        <a:t>Young / tech-literate adults</a:t>
                      </a:r>
                    </a:p>
                  </a:txBody>
                  <a:tcPr>
                    <a:solidFill>
                      <a:srgbClr val="F1F5F9"/>
                    </a:solidFill>
                  </a:tcPr>
                </a:tc>
                <a:tc>
                  <a:txBody>
                    <a:bodyPr/>
                    <a:lstStyle/>
                    <a:p>
                      <a:pPr>
                        <a:defRPr sz="1100">
                          <a:solidFill>
                            <a:srgbClr val="475569"/>
                          </a:solidFill>
                          <a:latin typeface="Calibri"/>
                        </a:defRPr>
                      </a:pPr>
                      <a:r>
                        <a:t>Chronic illness patients</a:t>
                      </a:r>
                    </a:p>
                  </a:txBody>
                  <a:tcPr>
                    <a:solidFill>
                      <a:srgbClr val="F1F5F9"/>
                    </a:solidFill>
                  </a:tcPr>
                </a:tc>
                <a:tc>
                  <a:txBody>
                    <a:bodyPr/>
                    <a:lstStyle/>
                    <a:p>
                      <a:pPr>
                        <a:defRPr sz="1100">
                          <a:solidFill>
                            <a:srgbClr val="475569"/>
                          </a:solidFill>
                          <a:latin typeface="Calibri"/>
                        </a:defRPr>
                      </a:pPr>
                      <a:r>
                        <a:t>Affluent elderly seniors</a:t>
                      </a:r>
                    </a:p>
                  </a:txBody>
                  <a:tcPr>
                    <a:solidFill>
                      <a:srgbClr val="F1F5F9"/>
                    </a:solidFill>
                  </a:tcPr>
                </a:tc>
                <a:tc>
                  <a:txBody>
                    <a:bodyPr/>
                    <a:lstStyle/>
                    <a:p>
                      <a:pPr>
                        <a:defRPr sz="1100" b="1">
                          <a:solidFill>
                            <a:srgbClr val="1E3A8A"/>
                          </a:solidFill>
                          <a:latin typeface="Calibri"/>
                        </a:defRPr>
                      </a:pPr>
                      <a:r>
                        <a:t>Elderly with MCI &amp; Caregivers</a:t>
                      </a:r>
                    </a:p>
                  </a:txBody>
                  <a:tcPr>
                    <a:solidFill>
                      <a:srgbClr val="F1F5F9"/>
                    </a:solidFill>
                  </a:tcPr>
                </a:tc>
              </a:tr>
              <a:tr h="786384">
                <a:tc>
                  <a:txBody>
                    <a:bodyPr/>
                    <a:lstStyle/>
                    <a:p>
                      <a:pPr>
                        <a:defRPr sz="1100" b="1">
                          <a:solidFill>
                            <a:srgbClr val="0F172A"/>
                          </a:solidFill>
                          <a:latin typeface="Calibri"/>
                        </a:defRPr>
                      </a:pPr>
                      <a:r>
                        <a:t>Accessibility Standard</a:t>
                      </a:r>
                    </a:p>
                  </a:txBody>
                  <a:tcPr>
                    <a:solidFill>
                      <a:srgbClr val="FFFFFF"/>
                    </a:solidFill>
                  </a:tcPr>
                </a:tc>
                <a:tc>
                  <a:txBody>
                    <a:bodyPr/>
                    <a:lstStyle/>
                    <a:p>
                      <a:pPr>
                        <a:defRPr sz="1100">
                          <a:solidFill>
                            <a:srgbClr val="475569"/>
                          </a:solidFill>
                          <a:latin typeface="Calibri"/>
                        </a:defRPr>
                      </a:pPr>
                      <a:r>
                        <a:t>Standard consumer app UI</a:t>
                      </a:r>
                    </a:p>
                  </a:txBody>
                  <a:tcPr>
                    <a:solidFill>
                      <a:srgbClr val="FFFFFF"/>
                    </a:solidFill>
                  </a:tcPr>
                </a:tc>
                <a:tc>
                  <a:txBody>
                    <a:bodyPr/>
                    <a:lstStyle/>
                    <a:p>
                      <a:pPr>
                        <a:defRPr sz="1100">
                          <a:solidFill>
                            <a:srgbClr val="475569"/>
                          </a:solidFill>
                          <a:latin typeface="Calibri"/>
                        </a:defRPr>
                      </a:pPr>
                      <a:r>
                        <a:t>Tiny 12px fonts &amp; menus</a:t>
                      </a:r>
                    </a:p>
                  </a:txBody>
                  <a:tcPr>
                    <a:solidFill>
                      <a:srgbClr val="FFFFFF"/>
                    </a:solidFill>
                  </a:tcPr>
                </a:tc>
                <a:tc>
                  <a:txBody>
                    <a:bodyPr/>
                    <a:lstStyle/>
                    <a:p>
                      <a:pPr>
                        <a:defRPr sz="1100">
                          <a:solidFill>
                            <a:srgbClr val="475569"/>
                          </a:solidFill>
                          <a:latin typeface="Calibri"/>
                        </a:defRPr>
                      </a:pPr>
                      <a:r>
                        <a:t>Dedicated hardware screen</a:t>
                      </a:r>
                    </a:p>
                  </a:txBody>
                  <a:tcPr>
                    <a:solidFill>
                      <a:srgbClr val="FFFFFF"/>
                    </a:solidFill>
                  </a:tcPr>
                </a:tc>
                <a:tc>
                  <a:txBody>
                    <a:bodyPr/>
                    <a:lstStyle/>
                    <a:p>
                      <a:pPr>
                        <a:defRPr sz="1100" b="1">
                          <a:solidFill>
                            <a:srgbClr val="1E3A8A"/>
                          </a:solidFill>
                          <a:latin typeface="Calibri"/>
                        </a:defRPr>
                      </a:pPr>
                      <a:r>
                        <a:t>WCAG 2.2 AA (Normal, Large, XL)</a:t>
                      </a:r>
                    </a:p>
                  </a:txBody>
                  <a:tcPr>
                    <a:solidFill>
                      <a:srgbClr val="FFFFFF"/>
                    </a:solidFill>
                  </a:tcPr>
                </a:tc>
              </a:tr>
              <a:tr h="786384">
                <a:tc>
                  <a:txBody>
                    <a:bodyPr/>
                    <a:lstStyle/>
                    <a:p>
                      <a:pPr>
                        <a:defRPr sz="1100" b="1">
                          <a:solidFill>
                            <a:srgbClr val="0F172A"/>
                          </a:solidFill>
                          <a:latin typeface="Calibri"/>
                        </a:defRPr>
                      </a:pPr>
                      <a:r>
                        <a:t>Caregiver Integration</a:t>
                      </a:r>
                    </a:p>
                  </a:txBody>
                  <a:tcPr>
                    <a:solidFill>
                      <a:srgbClr val="F1F5F9"/>
                    </a:solidFill>
                  </a:tcPr>
                </a:tc>
                <a:tc>
                  <a:txBody>
                    <a:bodyPr/>
                    <a:lstStyle/>
                    <a:p>
                      <a:pPr>
                        <a:defRPr sz="1100">
                          <a:solidFill>
                            <a:srgbClr val="475569"/>
                          </a:solidFill>
                          <a:latin typeface="Calibri"/>
                        </a:defRPr>
                      </a:pPr>
                      <a:r>
                        <a:t>0% (Completely absent)</a:t>
                      </a:r>
                    </a:p>
                  </a:txBody>
                  <a:tcPr>
                    <a:solidFill>
                      <a:srgbClr val="F1F5F9"/>
                    </a:solidFill>
                  </a:tcPr>
                </a:tc>
                <a:tc>
                  <a:txBody>
                    <a:bodyPr/>
                    <a:lstStyle/>
                    <a:p>
                      <a:pPr>
                        <a:defRPr sz="1100">
                          <a:solidFill>
                            <a:srgbClr val="475569"/>
                          </a:solidFill>
                          <a:latin typeface="Calibri"/>
                        </a:defRPr>
                      </a:pPr>
                      <a:r>
                        <a:t>Partial (Push alerts only)</a:t>
                      </a:r>
                    </a:p>
                  </a:txBody>
                  <a:tcPr>
                    <a:solidFill>
                      <a:srgbClr val="F1F5F9"/>
                    </a:solidFill>
                  </a:tcPr>
                </a:tc>
                <a:tc>
                  <a:txBody>
                    <a:bodyPr/>
                    <a:lstStyle/>
                    <a:p>
                      <a:pPr>
                        <a:defRPr sz="1100">
                          <a:solidFill>
                            <a:srgbClr val="475569"/>
                          </a:solidFill>
                          <a:latin typeface="Calibri"/>
                        </a:defRPr>
                      </a:pPr>
                      <a:r>
                        <a:t>Proprietary companion app</a:t>
                      </a:r>
                    </a:p>
                  </a:txBody>
                  <a:tcPr>
                    <a:solidFill>
                      <a:srgbClr val="F1F5F9"/>
                    </a:solidFill>
                  </a:tcPr>
                </a:tc>
                <a:tc>
                  <a:txBody>
                    <a:bodyPr/>
                    <a:lstStyle/>
                    <a:p>
                      <a:pPr>
                        <a:defRPr sz="1100" b="1">
                          <a:solidFill>
                            <a:srgbClr val="1E3A8A"/>
                          </a:solidFill>
                          <a:latin typeface="Calibri"/>
                        </a:defRPr>
                      </a:pPr>
                      <a:r>
                        <a:t>Unified web dashboard &amp; radar</a:t>
                      </a:r>
                    </a:p>
                  </a:txBody>
                  <a:tcPr>
                    <a:solidFill>
                      <a:srgbClr val="F1F5F9"/>
                    </a:solidFill>
                  </a:tcPr>
                </a:tc>
              </a:tr>
              <a:tr h="786384">
                <a:tc>
                  <a:txBody>
                    <a:bodyPr/>
                    <a:lstStyle/>
                    <a:p>
                      <a:pPr>
                        <a:defRPr sz="1100" b="1">
                          <a:solidFill>
                            <a:srgbClr val="0F172A"/>
                          </a:solidFill>
                          <a:latin typeface="Calibri"/>
                        </a:defRPr>
                      </a:pPr>
                      <a:r>
                        <a:t>Cognitive Evaluation</a:t>
                      </a:r>
                    </a:p>
                  </a:txBody>
                  <a:tcPr>
                    <a:solidFill>
                      <a:srgbClr val="FFFFFF"/>
                    </a:solidFill>
                  </a:tcPr>
                </a:tc>
                <a:tc>
                  <a:txBody>
                    <a:bodyPr/>
                    <a:lstStyle/>
                    <a:p>
                      <a:pPr>
                        <a:defRPr sz="1100">
                          <a:solidFill>
                            <a:srgbClr val="475569"/>
                          </a:solidFill>
                          <a:latin typeface="Calibri"/>
                        </a:defRPr>
                      </a:pPr>
                      <a:r>
                        <a:t>Gamified arbitrary points</a:t>
                      </a:r>
                    </a:p>
                  </a:txBody>
                  <a:tcPr>
                    <a:solidFill>
                      <a:srgbClr val="FFFFFF"/>
                    </a:solidFill>
                  </a:tcPr>
                </a:tc>
                <a:tc>
                  <a:txBody>
                    <a:bodyPr/>
                    <a:lstStyle/>
                    <a:p>
                      <a:pPr>
                        <a:defRPr sz="1100">
                          <a:solidFill>
                            <a:srgbClr val="475569"/>
                          </a:solidFill>
                          <a:latin typeface="Calibri"/>
                        </a:defRPr>
                      </a:pPr>
                      <a:r>
                        <a:t>None</a:t>
                      </a:r>
                    </a:p>
                  </a:txBody>
                  <a:tcPr>
                    <a:solidFill>
                      <a:srgbClr val="FFFFFF"/>
                    </a:solidFill>
                  </a:tcPr>
                </a:tc>
                <a:tc>
                  <a:txBody>
                    <a:bodyPr/>
                    <a:lstStyle/>
                    <a:p>
                      <a:pPr>
                        <a:defRPr sz="1100">
                          <a:solidFill>
                            <a:srgbClr val="475569"/>
                          </a:solidFill>
                          <a:latin typeface="Calibri"/>
                        </a:defRPr>
                      </a:pPr>
                      <a:r>
                        <a:t>Basic trivia check-ins</a:t>
                      </a:r>
                    </a:p>
                  </a:txBody>
                  <a:tcPr>
                    <a:solidFill>
                      <a:srgbClr val="FFFFFF"/>
                    </a:solidFill>
                  </a:tcPr>
                </a:tc>
                <a:tc>
                  <a:txBody>
                    <a:bodyPr/>
                    <a:lstStyle/>
                    <a:p>
                      <a:pPr>
                        <a:defRPr sz="1100" b="1">
                          <a:solidFill>
                            <a:srgbClr val="1E3A8A"/>
                          </a:solidFill>
                          <a:latin typeface="Calibri"/>
                        </a:defRPr>
                      </a:pPr>
                      <a:r>
                        <a:t>Deterministic closed-form math</a:t>
                      </a:r>
                    </a:p>
                  </a:txBody>
                  <a:tcPr>
                    <a:solidFill>
                      <a:srgbClr val="FFFFFF"/>
                    </a:solidFill>
                  </a:tcPr>
                </a:tc>
              </a:tr>
            </a:tbl>
          </a:graphicData>
        </a:graphic>
      </p:graphicFrame>
      <p:sp>
        <p:nvSpPr>
          <p:cNvPr id="6" name="Rounded Rectangle 5"/>
          <p:cNvSpPr/>
          <p:nvPr/>
        </p:nvSpPr>
        <p:spPr>
          <a:xfrm>
            <a:off x="731520" y="5486400"/>
            <a:ext cx="10728655" cy="914400"/>
          </a:xfrm>
          <a:prstGeom prst="roundRect">
            <a:avLst/>
          </a:prstGeom>
          <a:solidFill>
            <a:srgbClr val="EFF6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lnSpc>
                <a:spcPct val="125000"/>
              </a:lnSpc>
              <a:defRPr sz="1150" b="1">
                <a:solidFill>
                  <a:srgbClr val="1E3A8A"/>
                </a:solidFill>
                <a:latin typeface="Calibri"/>
              </a:defRPr>
            </a:pPr>
            <a:r>
              <a:t>LITERATURE SYNTHESIS: Current solutions isolate memory training from daily care routines. CogniCare bridges these silos into a single, unified web companion with verified accessibility and objective longitudinal analytics.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2E8F0"/>
                </a:solidFill>
                <a:latin typeface="Calibri"/>
              </a:defRPr>
            </a:pPr>
            <a:r>
              <a:t>BENNETT UNIVERSITY  •  SCHOOL OF ENGINEERING &amp; APPLIED SCIENCES  •  CSET400C CAPSTONE PROJECT</a:t>
            </a:r>
          </a:p>
        </p:txBody>
      </p:sp>
      <p:sp>
        <p:nvSpPr>
          <p:cNvPr id="4" name="TextBox 3"/>
          <p:cNvSpPr txBox="1"/>
          <p:nvPr/>
        </p:nvSpPr>
        <p:spPr>
          <a:xfrm>
            <a:off x="731520" y="502920"/>
            <a:ext cx="10728655" cy="777240"/>
          </a:xfrm>
          <a:prstGeom prst="rect">
            <a:avLst/>
          </a:prstGeom>
          <a:noFill/>
        </p:spPr>
        <p:txBody>
          <a:bodyPr wrap="square">
            <a:spAutoFit/>
          </a:bodyPr>
          <a:lstStyle/>
          <a:p>
            <a:pPr>
              <a:defRPr sz="1100" b="1">
                <a:solidFill>
                  <a:srgbClr val="1E3A8A"/>
                </a:solidFill>
                <a:latin typeface="Calibri"/>
              </a:defRPr>
            </a:pPr>
            <a:r>
              <a:t>05 • GAP ANALYSIS &amp; PROPOSED INNOVATION</a:t>
            </a:r>
          </a:p>
          <a:p>
            <a:pPr>
              <a:defRPr sz="2400" b="1">
                <a:solidFill>
                  <a:srgbClr val="0F172A"/>
                </a:solidFill>
                <a:latin typeface="Calibri"/>
              </a:defRPr>
            </a:pPr>
            <a:r>
              <a:t>The Research Gap and CogniCare's Architectural Contributions</a:t>
            </a:r>
          </a:p>
        </p:txBody>
      </p:sp>
      <p:sp>
        <p:nvSpPr>
          <p:cNvPr id="5" name="Rounded Rectangle 4"/>
          <p:cNvSpPr/>
          <p:nvPr/>
        </p:nvSpPr>
        <p:spPr>
          <a:xfrm>
            <a:off x="731520" y="1417320"/>
            <a:ext cx="5212080"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B91C1C"/>
                </a:solidFill>
                <a:latin typeface="Calibri"/>
              </a:defRPr>
            </a:pPr>
            <a:r>
              <a:t>Identified Research &amp; Technical Gaps</a:t>
            </a:r>
          </a:p>
          <a:p>
            <a:pPr>
              <a:defRPr sz="1250" b="1">
                <a:solidFill>
                  <a:srgbClr val="B91C1C"/>
                </a:solidFill>
                <a:latin typeface="Calibri"/>
              </a:defRPr>
            </a:pPr>
            <a:r>
              <a:t>✖ The Accessibility Chasm</a:t>
            </a:r>
          </a:p>
          <a:p>
            <a:pPr>
              <a:spcAft>
                <a:spcPts val="600"/>
              </a:spcAft>
              <a:defRPr sz="1150">
                <a:solidFill>
                  <a:srgbClr val="0F172A"/>
                </a:solidFill>
                <a:latin typeface="Calibri"/>
              </a:defRPr>
            </a:pPr>
            <a:r>
              <a:t>Current healthcare interfaces do not accommodate elderly tremors, cataracts, or cognitive processing delays, causing quick abandonment.</a:t>
            </a:r>
          </a:p>
          <a:p>
            <a:pPr>
              <a:defRPr sz="1250" b="1">
                <a:solidFill>
                  <a:srgbClr val="B91C1C"/>
                </a:solidFill>
                <a:latin typeface="Calibri"/>
              </a:defRPr>
            </a:pPr>
            <a:r>
              <a:t>✖ The Hallucination Danger</a:t>
            </a:r>
          </a:p>
          <a:p>
            <a:pPr>
              <a:spcAft>
                <a:spcPts val="600"/>
              </a:spcAft>
              <a:defRPr sz="1150">
                <a:solidFill>
                  <a:srgbClr val="0F172A"/>
                </a:solidFill>
                <a:latin typeface="Calibri"/>
              </a:defRPr>
            </a:pPr>
            <a:r>
              <a:t>Applying standard generative LLMs directly to patient scoring risks medical hallucinations, incorrect triage, and clinical distrust.</a:t>
            </a:r>
          </a:p>
          <a:p>
            <a:pPr>
              <a:defRPr sz="1250" b="1">
                <a:solidFill>
                  <a:srgbClr val="B91C1C"/>
                </a:solidFill>
                <a:latin typeface="Calibri"/>
              </a:defRPr>
            </a:pPr>
            <a:r>
              <a:t>✖ The Economic Divide</a:t>
            </a:r>
          </a:p>
          <a:p>
            <a:pPr>
              <a:spcAft>
                <a:spcPts val="600"/>
              </a:spcAft>
              <a:defRPr sz="1150">
                <a:solidFill>
                  <a:srgbClr val="0F172A"/>
                </a:solidFill>
                <a:latin typeface="Calibri"/>
              </a:defRPr>
            </a:pPr>
            <a:r>
              <a:t>Hardware companions costing $500+ exclude middle- and lower-income families who bear the highest informal care burden.</a:t>
            </a:r>
          </a:p>
          <a:p>
            <a:pPr>
              <a:defRPr sz="1250" b="1">
                <a:solidFill>
                  <a:srgbClr val="B91C1C"/>
                </a:solidFill>
                <a:latin typeface="Calibri"/>
              </a:defRPr>
            </a:pPr>
            <a:r>
              <a:t>✖ The Routine-Cognition Disconnect</a:t>
            </a:r>
          </a:p>
          <a:p>
            <a:pPr>
              <a:spcAft>
                <a:spcPts val="600"/>
              </a:spcAft>
              <a:defRPr sz="1150">
                <a:solidFill>
                  <a:srgbClr val="0F172A"/>
                </a:solidFill>
                <a:latin typeface="Calibri"/>
              </a:defRPr>
            </a:pPr>
            <a:r>
              <a:t>Brain training is completely separated from everyday medication and circadian routine management in current apps.</a:t>
            </a:r>
          </a:p>
        </p:txBody>
      </p:sp>
      <p:sp>
        <p:nvSpPr>
          <p:cNvPr id="6" name="Rounded Rectangle 5"/>
          <p:cNvSpPr/>
          <p:nvPr/>
        </p:nvSpPr>
        <p:spPr>
          <a:xfrm>
            <a:off x="6217920" y="1417320"/>
            <a:ext cx="5242255"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047857"/>
                </a:solidFill>
                <a:latin typeface="Calibri"/>
              </a:defRPr>
            </a:pPr>
            <a:r>
              <a:t>CogniCare's Engineered Innovations</a:t>
            </a:r>
          </a:p>
          <a:p>
            <a:pPr>
              <a:defRPr sz="1250" b="1">
                <a:solidFill>
                  <a:srgbClr val="047857"/>
                </a:solidFill>
                <a:latin typeface="Calibri"/>
              </a:defRPr>
            </a:pPr>
            <a:r>
              <a:t>✔ Multi-Scale Viewport Engine</a:t>
            </a:r>
          </a:p>
          <a:p>
            <a:pPr>
              <a:spcAft>
                <a:spcPts val="600"/>
              </a:spcAft>
              <a:defRPr sz="1150">
                <a:solidFill>
                  <a:srgbClr val="0F172A"/>
                </a:solidFill>
                <a:latin typeface="Calibri"/>
              </a:defRPr>
            </a:pPr>
            <a:r>
              <a:t>Dynamic density provider offering Normal, Large, and Extra Large (76px+ buttons, 7:1 contrast) adapting to phones, tablets, and laptops.</a:t>
            </a:r>
          </a:p>
          <a:p>
            <a:pPr>
              <a:defRPr sz="1250" b="1">
                <a:solidFill>
                  <a:srgbClr val="047857"/>
                </a:solidFill>
                <a:latin typeface="Calibri"/>
              </a:defRPr>
            </a:pPr>
            <a:r>
              <a:t>✔ Closed-Form Mathematical Scoring</a:t>
            </a:r>
          </a:p>
          <a:p>
            <a:pPr>
              <a:spcAft>
                <a:spcPts val="600"/>
              </a:spcAft>
              <a:defRPr sz="1150">
                <a:solidFill>
                  <a:srgbClr val="0F172A"/>
                </a:solidFill>
                <a:latin typeface="Calibri"/>
              </a:defRPr>
            </a:pPr>
            <a:r>
              <a:t>Deterministic scoring algorithm combining latency, accuracy, and difficulty—guaranteeing 100% reproducible longitudinal comparison.</a:t>
            </a:r>
          </a:p>
          <a:p>
            <a:pPr>
              <a:defRPr sz="1250" b="1">
                <a:solidFill>
                  <a:srgbClr val="047857"/>
                </a:solidFill>
                <a:latin typeface="Calibri"/>
              </a:defRPr>
            </a:pPr>
            <a:r>
              <a:t>✔ Resilient Dual-Mode AI Orchestrator</a:t>
            </a:r>
          </a:p>
          <a:p>
            <a:pPr>
              <a:spcAft>
                <a:spcPts val="600"/>
              </a:spcAft>
              <a:defRPr sz="1150">
                <a:solidFill>
                  <a:srgbClr val="0F172A"/>
                </a:solidFill>
                <a:latin typeface="Calibri"/>
              </a:defRPr>
            </a:pPr>
            <a:r>
              <a:t>Gemini 3.8 Live + Extended Thinking backed by an automated local validation therapy fallback engine on HTTP 429 quota exhaustion.</a:t>
            </a:r>
          </a:p>
          <a:p>
            <a:pPr>
              <a:defRPr sz="1250" b="1">
                <a:solidFill>
                  <a:srgbClr val="047857"/>
                </a:solidFill>
                <a:latin typeface="Calibri"/>
              </a:defRPr>
            </a:pPr>
            <a:r>
              <a:t>✔ Deterministic Safety State Machine</a:t>
            </a:r>
          </a:p>
          <a:p>
            <a:pPr>
              <a:spcAft>
                <a:spcPts val="600"/>
              </a:spcAft>
              <a:defRPr sz="1150">
                <a:solidFill>
                  <a:srgbClr val="0F172A"/>
                </a:solidFill>
                <a:latin typeface="Calibri"/>
              </a:defRPr>
            </a:pPr>
            <a:r>
              <a:t>Automated escalation lifecycles for medications and SOS triggers that never depend on black-box AI decisions.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2E8F0"/>
                </a:solidFill>
                <a:latin typeface="Calibri"/>
              </a:defRPr>
            </a:pPr>
            <a:r>
              <a:t>BENNETT UNIVERSITY  •  SCHOOL OF ENGINEERING &amp; APPLIED SCIENCES  •  CSET400C CAPSTONE PROJECT</a:t>
            </a:r>
          </a:p>
        </p:txBody>
      </p:sp>
      <p:sp>
        <p:nvSpPr>
          <p:cNvPr id="4" name="TextBox 3"/>
          <p:cNvSpPr txBox="1"/>
          <p:nvPr/>
        </p:nvSpPr>
        <p:spPr>
          <a:xfrm>
            <a:off x="731520" y="502920"/>
            <a:ext cx="10728655" cy="777240"/>
          </a:xfrm>
          <a:prstGeom prst="rect">
            <a:avLst/>
          </a:prstGeom>
          <a:noFill/>
        </p:spPr>
        <p:txBody>
          <a:bodyPr wrap="square">
            <a:spAutoFit/>
          </a:bodyPr>
          <a:lstStyle/>
          <a:p>
            <a:pPr>
              <a:defRPr sz="1100" b="1">
                <a:solidFill>
                  <a:srgbClr val="1E3A8A"/>
                </a:solidFill>
                <a:latin typeface="Calibri"/>
              </a:defRPr>
            </a:pPr>
            <a:r>
              <a:t>06 • STAKEHOLDER &amp; REQUIREMENTS SPECIFICATION</a:t>
            </a:r>
          </a:p>
          <a:p>
            <a:pPr>
              <a:defRPr sz="2400" b="1">
                <a:solidFill>
                  <a:srgbClr val="0F172A"/>
                </a:solidFill>
                <a:latin typeface="Calibri"/>
              </a:defRPr>
            </a:pPr>
            <a:r>
              <a:t>User Personas, Functional Requirements &amp; Non-Functional Constraints</a:t>
            </a:r>
          </a:p>
        </p:txBody>
      </p:sp>
      <p:sp>
        <p:nvSpPr>
          <p:cNvPr id="5" name="Rounded Rectangle 4"/>
          <p:cNvSpPr/>
          <p:nvPr/>
        </p:nvSpPr>
        <p:spPr>
          <a:xfrm>
            <a:off x="731520" y="1417320"/>
            <a:ext cx="5212080" cy="3337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Senior Persona: Margaret (76, Retired Teacher)</a:t>
            </a:r>
          </a:p>
          <a:p>
            <a:pPr>
              <a:lnSpc>
                <a:spcPct val="130000"/>
              </a:lnSpc>
              <a:defRPr sz="1200">
                <a:solidFill>
                  <a:srgbClr val="0F172A"/>
                </a:solidFill>
                <a:latin typeface="Calibri"/>
              </a:defRPr>
            </a:pPr>
            <a:r>
              <a:t>• Context: Mild Cognitive Impairment, hand tremors, cataract history.</a:t>
            </a:r>
            <a:br/>
            <a:r>
              <a:t>• Pain Points: Forgets afternoon medications; intimidated by complex apps.</a:t>
            </a:r>
            <a:br/>
            <a:r>
              <a:t>• Key Requirements:</a:t>
            </a:r>
            <a:br/>
            <a:r>
              <a:t>   - Simplified 'My Day' single-action interface.</a:t>
            </a:r>
            <a:br/>
            <a:r>
              <a:t>   - Oversized 76px+ touch targets for tremor tolerance.</a:t>
            </a:r>
            <a:br/>
            <a:r>
              <a:t>   - Opt-in Talk Aloud speech toggle + 1-tap SOS emergency alert.</a:t>
            </a:r>
          </a:p>
        </p:txBody>
      </p:sp>
      <p:sp>
        <p:nvSpPr>
          <p:cNvPr id="6" name="Rounded Rectangle 5"/>
          <p:cNvSpPr/>
          <p:nvPr/>
        </p:nvSpPr>
        <p:spPr>
          <a:xfrm>
            <a:off x="6217920" y="1417320"/>
            <a:ext cx="5242255" cy="33375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0D9488"/>
                </a:solidFill>
                <a:latin typeface="Calibri"/>
              </a:defRPr>
            </a:pPr>
            <a:r>
              <a:t>Caregiver Persona: Sarah (48, Working Daughter)</a:t>
            </a:r>
          </a:p>
          <a:p>
            <a:pPr>
              <a:lnSpc>
                <a:spcPct val="130000"/>
              </a:lnSpc>
              <a:defRPr sz="1200">
                <a:solidFill>
                  <a:srgbClr val="0F172A"/>
                </a:solidFill>
                <a:latin typeface="Calibri"/>
              </a:defRPr>
            </a:pPr>
            <a:r>
              <a:t>• Context: Full-time marketing director, primary remote caregiver.</a:t>
            </a:r>
            <a:br/>
            <a:r>
              <a:t>• Pain Points: Constant worry about missed doses; lacks objective trend data.</a:t>
            </a:r>
            <a:br/>
            <a:r>
              <a:t>• Key Requirements:</a:t>
            </a:r>
            <a:br/>
            <a:r>
              <a:t>   - Caregiver Control Tower with live adherence radar.</a:t>
            </a:r>
            <a:br/>
            <a:r>
              <a:t>   - 14-day and 30-day longitudinal cognitive performance trends.</a:t>
            </a:r>
            <a:br/>
            <a:r>
              <a:t>   - Instant alert notification feed for missed critical routines.</a:t>
            </a:r>
          </a:p>
        </p:txBody>
      </p:sp>
      <p:sp>
        <p:nvSpPr>
          <p:cNvPr id="7" name="Rounded Rectangle 6"/>
          <p:cNvSpPr/>
          <p:nvPr/>
        </p:nvSpPr>
        <p:spPr>
          <a:xfrm>
            <a:off x="731520" y="4892040"/>
            <a:ext cx="521208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Functional Requirements (FR)</a:t>
            </a:r>
          </a:p>
          <a:p>
            <a:pPr>
              <a:lnSpc>
                <a:spcPct val="125000"/>
              </a:lnSpc>
              <a:defRPr sz="1150" b="1">
                <a:solidFill>
                  <a:srgbClr val="0F172A"/>
                </a:solidFill>
                <a:latin typeface="Calibri"/>
              </a:defRPr>
            </a:pPr>
            <a:r>
              <a:t>FR1: JWT Auth &amp; RBAC  •  FR2: Caregiver Link  •  FR3: Medication State Engine</a:t>
            </a:r>
            <a:br/>
            <a:r>
              <a:t>FR4: Cognitive Games  •  FR5: Math Scoring  •  FR6: Gemini AI  •  FR7: 1-Tap SOS</a:t>
            </a:r>
          </a:p>
        </p:txBody>
      </p:sp>
      <p:sp>
        <p:nvSpPr>
          <p:cNvPr id="8" name="Rounded Rectangle 7"/>
          <p:cNvSpPr/>
          <p:nvPr/>
        </p:nvSpPr>
        <p:spPr>
          <a:xfrm>
            <a:off x="6217920" y="4892040"/>
            <a:ext cx="5242255"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0D9488"/>
                </a:solidFill>
                <a:latin typeface="Calibri"/>
              </a:defRPr>
            </a:pPr>
            <a:r>
              <a:t>Non-Functional Requirements (NFR)</a:t>
            </a:r>
          </a:p>
          <a:p>
            <a:pPr>
              <a:lnSpc>
                <a:spcPct val="125000"/>
              </a:lnSpc>
              <a:defRPr sz="1150" b="1">
                <a:solidFill>
                  <a:srgbClr val="0F172A"/>
                </a:solidFill>
                <a:latin typeface="Calibri"/>
              </a:defRPr>
            </a:pPr>
            <a:r>
              <a:t>NFR1: WCAG 2.2 AA Accessibility  •  NFR2: &lt;500ms API Latency</a:t>
            </a:r>
            <a:br/>
            <a:r>
              <a:t>NFR3: Offline PWA Caching  •  NFR4: OWASP Top 10 Security &amp; Consent Isolation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2E8F0"/>
                </a:solidFill>
                <a:latin typeface="Calibri"/>
              </a:defRPr>
            </a:pPr>
            <a:r>
              <a:t>BENNETT UNIVERSITY  •  SCHOOL OF ENGINEERING &amp; APPLIED SCIENCES  •  CSET400C CAPSTONE PROJECT</a:t>
            </a:r>
          </a:p>
        </p:txBody>
      </p:sp>
      <p:sp>
        <p:nvSpPr>
          <p:cNvPr id="4" name="TextBox 3"/>
          <p:cNvSpPr txBox="1"/>
          <p:nvPr/>
        </p:nvSpPr>
        <p:spPr>
          <a:xfrm>
            <a:off x="731520" y="502920"/>
            <a:ext cx="10728655" cy="777240"/>
          </a:xfrm>
          <a:prstGeom prst="rect">
            <a:avLst/>
          </a:prstGeom>
          <a:noFill/>
        </p:spPr>
        <p:txBody>
          <a:bodyPr wrap="square">
            <a:spAutoFit/>
          </a:bodyPr>
          <a:lstStyle/>
          <a:p>
            <a:pPr>
              <a:defRPr sz="1100" b="1">
                <a:solidFill>
                  <a:srgbClr val="1E3A8A"/>
                </a:solidFill>
                <a:latin typeface="Calibri"/>
              </a:defRPr>
            </a:pPr>
            <a:r>
              <a:t>07 • PROPOSED SYSTEM ARCHITECTURE &amp; TECH STACK</a:t>
            </a:r>
          </a:p>
          <a:p>
            <a:pPr>
              <a:defRPr sz="2400" b="1">
                <a:solidFill>
                  <a:srgbClr val="0F172A"/>
                </a:solidFill>
                <a:latin typeface="Calibri"/>
              </a:defRPr>
            </a:pPr>
            <a:r>
              <a:t>Four-Tier Modular Monolith Engineered for High Concurrency &amp; Availability</a:t>
            </a:r>
          </a:p>
        </p:txBody>
      </p:sp>
      <p:sp>
        <p:nvSpPr>
          <p:cNvPr id="5" name="Rounded Rectangle 4"/>
          <p:cNvSpPr/>
          <p:nvPr/>
        </p:nvSpPr>
        <p:spPr>
          <a:xfrm>
            <a:off x="731520" y="1417320"/>
            <a:ext cx="2514600" cy="39319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TIER 1: Presentation Layer</a:t>
            </a:r>
          </a:p>
          <a:p>
            <a:pPr>
              <a:spcAft>
                <a:spcPts val="800"/>
              </a:spcAft>
              <a:defRPr sz="1200" b="1">
                <a:solidFill>
                  <a:srgbClr val="0D9488"/>
                </a:solidFill>
                <a:latin typeface="Calibri"/>
              </a:defRPr>
            </a:pPr>
            <a:r>
              <a:t>Next.js 14 App Router</a:t>
            </a:r>
            <a:br/>
            <a:r>
              <a:t>TypeScript &amp; Tailwind CSS</a:t>
            </a:r>
          </a:p>
          <a:p>
            <a:pPr>
              <a:lnSpc>
                <a:spcPct val="125000"/>
              </a:lnSpc>
              <a:spcAft>
                <a:spcPts val="600"/>
              </a:spcAft>
              <a:defRPr sz="1100">
                <a:solidFill>
                  <a:srgbClr val="475569"/>
                </a:solidFill>
                <a:latin typeface="Calibri"/>
              </a:defRPr>
            </a:pPr>
            <a:r>
              <a:t>• Universal Web PWA for any screen</a:t>
            </a:r>
          </a:p>
          <a:p>
            <a:pPr>
              <a:lnSpc>
                <a:spcPct val="125000"/>
              </a:lnSpc>
              <a:spcAft>
                <a:spcPts val="600"/>
              </a:spcAft>
              <a:defRPr sz="1100">
                <a:solidFill>
                  <a:srgbClr val="475569"/>
                </a:solidFill>
                <a:latin typeface="Calibri"/>
              </a:defRPr>
            </a:pPr>
            <a:r>
              <a:t>• Multi-Scale Viewports (Normal, Large, XL)</a:t>
            </a:r>
          </a:p>
          <a:p>
            <a:pPr>
              <a:lnSpc>
                <a:spcPct val="125000"/>
              </a:lnSpc>
              <a:spcAft>
                <a:spcPts val="600"/>
              </a:spcAft>
              <a:defRPr sz="1100">
                <a:solidFill>
                  <a:srgbClr val="475569"/>
                </a:solidFill>
                <a:latin typeface="Calibri"/>
              </a:defRPr>
            </a:pPr>
            <a:r>
              <a:t>• WCAG 2.2 AA high-contrast themes</a:t>
            </a:r>
          </a:p>
          <a:p>
            <a:pPr>
              <a:lnSpc>
                <a:spcPct val="125000"/>
              </a:lnSpc>
              <a:spcAft>
                <a:spcPts val="600"/>
              </a:spcAft>
              <a:defRPr sz="1100">
                <a:solidFill>
                  <a:srgbClr val="475569"/>
                </a:solidFill>
                <a:latin typeface="Calibri"/>
              </a:defRPr>
            </a:pPr>
            <a:r>
              <a:t>• Web Speech API with Talk Aloud toggle</a:t>
            </a:r>
          </a:p>
        </p:txBody>
      </p:sp>
      <p:sp>
        <p:nvSpPr>
          <p:cNvPr id="6" name="Rounded Rectangle 5"/>
          <p:cNvSpPr/>
          <p:nvPr/>
        </p:nvSpPr>
        <p:spPr>
          <a:xfrm>
            <a:off x="3410712" y="1417320"/>
            <a:ext cx="2514600" cy="39319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TIER 2: API &amp; Service Layer</a:t>
            </a:r>
          </a:p>
          <a:p>
            <a:pPr>
              <a:spcAft>
                <a:spcPts val="800"/>
              </a:spcAft>
              <a:defRPr sz="1200" b="1">
                <a:solidFill>
                  <a:srgbClr val="0D9488"/>
                </a:solidFill>
                <a:latin typeface="Calibri"/>
              </a:defRPr>
            </a:pPr>
            <a:r>
              <a:t>Python 3.13 + FastAPI</a:t>
            </a:r>
            <a:br/>
            <a:r>
              <a:t>Async Pydantic v2 Engine</a:t>
            </a:r>
          </a:p>
          <a:p>
            <a:pPr>
              <a:lnSpc>
                <a:spcPct val="125000"/>
              </a:lnSpc>
              <a:spcAft>
                <a:spcPts val="600"/>
              </a:spcAft>
              <a:defRPr sz="1100">
                <a:solidFill>
                  <a:srgbClr val="475569"/>
                </a:solidFill>
                <a:latin typeface="Calibri"/>
              </a:defRPr>
            </a:pPr>
            <a:r>
              <a:t>• High concurrency async REST endpoints</a:t>
            </a:r>
          </a:p>
          <a:p>
            <a:pPr>
              <a:lnSpc>
                <a:spcPct val="125000"/>
              </a:lnSpc>
              <a:spcAft>
                <a:spcPts val="600"/>
              </a:spcAft>
              <a:defRPr sz="1100">
                <a:solidFill>
                  <a:srgbClr val="475569"/>
                </a:solidFill>
                <a:latin typeface="Calibri"/>
              </a:defRPr>
            </a:pPr>
            <a:r>
              <a:t>• Granular RBAC middleware &amp; cookies</a:t>
            </a:r>
          </a:p>
          <a:p>
            <a:pPr>
              <a:lnSpc>
                <a:spcPct val="125000"/>
              </a:lnSpc>
              <a:spcAft>
                <a:spcPts val="600"/>
              </a:spcAft>
              <a:defRPr sz="1100">
                <a:solidFill>
                  <a:srgbClr val="475569"/>
                </a:solidFill>
                <a:latin typeface="Calibri"/>
              </a:defRPr>
            </a:pPr>
            <a:r>
              <a:t>• Deterministic scoring domain service</a:t>
            </a:r>
          </a:p>
          <a:p>
            <a:pPr>
              <a:lnSpc>
                <a:spcPct val="125000"/>
              </a:lnSpc>
              <a:spcAft>
                <a:spcPts val="600"/>
              </a:spcAft>
              <a:defRPr sz="1100">
                <a:solidFill>
                  <a:srgbClr val="475569"/>
                </a:solidFill>
                <a:latin typeface="Calibri"/>
              </a:defRPr>
            </a:pPr>
            <a:r>
              <a:t>• Finite state machine for safety alerts</a:t>
            </a:r>
          </a:p>
        </p:txBody>
      </p:sp>
      <p:sp>
        <p:nvSpPr>
          <p:cNvPr id="7" name="Rounded Rectangle 6"/>
          <p:cNvSpPr/>
          <p:nvPr/>
        </p:nvSpPr>
        <p:spPr>
          <a:xfrm>
            <a:off x="6089904" y="1417320"/>
            <a:ext cx="2514600" cy="39319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TIER 3: Persistence Tier</a:t>
            </a:r>
          </a:p>
          <a:p>
            <a:pPr>
              <a:spcAft>
                <a:spcPts val="800"/>
              </a:spcAft>
              <a:defRPr sz="1200" b="1">
                <a:solidFill>
                  <a:srgbClr val="0D9488"/>
                </a:solidFill>
                <a:latin typeface="Calibri"/>
              </a:defRPr>
            </a:pPr>
            <a:r>
              <a:t>PostgreSQL 16 Relational</a:t>
            </a:r>
            <a:br/>
            <a:r>
              <a:t>SQLAlchemy 2.0 + Alembic</a:t>
            </a:r>
          </a:p>
          <a:p>
            <a:pPr>
              <a:lnSpc>
                <a:spcPct val="125000"/>
              </a:lnSpc>
              <a:spcAft>
                <a:spcPts val="600"/>
              </a:spcAft>
              <a:defRPr sz="1100">
                <a:solidFill>
                  <a:srgbClr val="475569"/>
                </a:solidFill>
                <a:latin typeface="Calibri"/>
              </a:defRPr>
            </a:pPr>
            <a:r>
              <a:t>• Strict relational ACID compliance</a:t>
            </a:r>
          </a:p>
          <a:p>
            <a:pPr>
              <a:lnSpc>
                <a:spcPct val="125000"/>
              </a:lnSpc>
              <a:spcAft>
                <a:spcPts val="600"/>
              </a:spcAft>
              <a:defRPr sz="1100">
                <a:solidFill>
                  <a:srgbClr val="475569"/>
                </a:solidFill>
                <a:latin typeface="Calibri"/>
              </a:defRPr>
            </a:pPr>
            <a:r>
              <a:t>• Patient-Caregiver consent linking</a:t>
            </a:r>
          </a:p>
          <a:p>
            <a:pPr>
              <a:lnSpc>
                <a:spcPct val="125000"/>
              </a:lnSpc>
              <a:spcAft>
                <a:spcPts val="600"/>
              </a:spcAft>
              <a:defRPr sz="1100">
                <a:solidFill>
                  <a:srgbClr val="475569"/>
                </a:solidFill>
                <a:latin typeface="Calibri"/>
              </a:defRPr>
            </a:pPr>
            <a:r>
              <a:t>• Immutable audit logs for med changes</a:t>
            </a:r>
          </a:p>
          <a:p>
            <a:pPr>
              <a:lnSpc>
                <a:spcPct val="125000"/>
              </a:lnSpc>
              <a:spcAft>
                <a:spcPts val="600"/>
              </a:spcAft>
              <a:defRPr sz="1100">
                <a:solidFill>
                  <a:srgbClr val="475569"/>
                </a:solidFill>
                <a:latin typeface="Calibri"/>
              </a:defRPr>
            </a:pPr>
            <a:r>
              <a:t>• Cognitive session telemetry tables</a:t>
            </a:r>
          </a:p>
        </p:txBody>
      </p:sp>
      <p:sp>
        <p:nvSpPr>
          <p:cNvPr id="8" name="Rounded Rectangle 7"/>
          <p:cNvSpPr/>
          <p:nvPr/>
        </p:nvSpPr>
        <p:spPr>
          <a:xfrm>
            <a:off x="8769096" y="1417320"/>
            <a:ext cx="2514600" cy="39319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TIER 4: AI &amp; Fallback Layer</a:t>
            </a:r>
          </a:p>
          <a:p>
            <a:pPr>
              <a:spcAft>
                <a:spcPts val="800"/>
              </a:spcAft>
              <a:defRPr sz="1200" b="1">
                <a:solidFill>
                  <a:srgbClr val="0D9488"/>
                </a:solidFill>
                <a:latin typeface="Calibri"/>
              </a:defRPr>
            </a:pPr>
            <a:r>
              <a:t>Google Gemini 3.8 Dual Mode</a:t>
            </a:r>
            <a:br/>
            <a:r>
              <a:t>+ Resilient Local Engine</a:t>
            </a:r>
          </a:p>
          <a:p>
            <a:pPr>
              <a:lnSpc>
                <a:spcPct val="125000"/>
              </a:lnSpc>
              <a:spcAft>
                <a:spcPts val="600"/>
              </a:spcAft>
              <a:defRPr sz="1100">
                <a:solidFill>
                  <a:srgbClr val="475569"/>
                </a:solidFill>
                <a:latin typeface="Calibri"/>
              </a:defRPr>
            </a:pPr>
            <a:r>
              <a:t>• Gemini 3.8 Live (fluent voice/chat)</a:t>
            </a:r>
          </a:p>
          <a:p>
            <a:pPr>
              <a:lnSpc>
                <a:spcPct val="125000"/>
              </a:lnSpc>
              <a:spcAft>
                <a:spcPts val="600"/>
              </a:spcAft>
              <a:defRPr sz="1100">
                <a:solidFill>
                  <a:srgbClr val="475569"/>
                </a:solidFill>
                <a:latin typeface="Calibri"/>
              </a:defRPr>
            </a:pPr>
            <a:r>
              <a:t>• Extended Thinking (reasoning traces)</a:t>
            </a:r>
          </a:p>
          <a:p>
            <a:pPr>
              <a:lnSpc>
                <a:spcPct val="125000"/>
              </a:lnSpc>
              <a:spcAft>
                <a:spcPts val="600"/>
              </a:spcAft>
              <a:defRPr sz="1100">
                <a:solidFill>
                  <a:srgbClr val="475569"/>
                </a:solidFill>
                <a:latin typeface="Calibri"/>
              </a:defRPr>
            </a:pPr>
            <a:r>
              <a:t>• Local Fallback Engine on HTTP 429</a:t>
            </a:r>
          </a:p>
          <a:p>
            <a:pPr>
              <a:lnSpc>
                <a:spcPct val="125000"/>
              </a:lnSpc>
              <a:spcAft>
                <a:spcPts val="600"/>
              </a:spcAft>
              <a:defRPr sz="1100">
                <a:solidFill>
                  <a:srgbClr val="475569"/>
                </a:solidFill>
                <a:latin typeface="Calibri"/>
              </a:defRPr>
            </a:pPr>
            <a:r>
              <a:t>• Validation therapy prompt guardrails</a:t>
            </a:r>
          </a:p>
        </p:txBody>
      </p:sp>
      <p:sp>
        <p:nvSpPr>
          <p:cNvPr id="9" name="Rounded Rectangle 8"/>
          <p:cNvSpPr/>
          <p:nvPr/>
        </p:nvSpPr>
        <p:spPr>
          <a:xfrm>
            <a:off x="731520" y="5486400"/>
            <a:ext cx="10728655" cy="91440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lnSpc>
                <a:spcPct val="125000"/>
              </a:lnSpc>
              <a:defRPr sz="1150" b="1">
                <a:solidFill>
                  <a:srgbClr val="1E3A8A"/>
                </a:solidFill>
                <a:latin typeface="Calibri"/>
              </a:defRPr>
            </a:pPr>
            <a:r>
              <a:t>ENGINEERING JUSTIFICATION: Python enables async throughput and AI SDK integration; Next.js delivers cross-platform PWA execution without app store friction; PostgreSQL guarantees ACID consistency for critical medications.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2E8F0"/>
                </a:solidFill>
                <a:latin typeface="Calibri"/>
              </a:defRPr>
            </a:pPr>
            <a:r>
              <a:t>BENNETT UNIVERSITY  •  SCHOOL OF ENGINEERING &amp; APPLIED SCIENCES  •  CSET400C CAPSTONE PROJECT</a:t>
            </a:r>
          </a:p>
        </p:txBody>
      </p:sp>
      <p:sp>
        <p:nvSpPr>
          <p:cNvPr id="4" name="TextBox 3"/>
          <p:cNvSpPr txBox="1"/>
          <p:nvPr/>
        </p:nvSpPr>
        <p:spPr>
          <a:xfrm>
            <a:off x="731520" y="502920"/>
            <a:ext cx="10728655" cy="777240"/>
          </a:xfrm>
          <a:prstGeom prst="rect">
            <a:avLst/>
          </a:prstGeom>
          <a:noFill/>
        </p:spPr>
        <p:txBody>
          <a:bodyPr wrap="square">
            <a:spAutoFit/>
          </a:bodyPr>
          <a:lstStyle/>
          <a:p>
            <a:pPr>
              <a:defRPr sz="1100" b="1">
                <a:solidFill>
                  <a:srgbClr val="1E3A8A"/>
                </a:solidFill>
                <a:latin typeface="Calibri"/>
              </a:defRPr>
            </a:pPr>
            <a:r>
              <a:t>08 • FEASIBILITY ANALYSIS &amp; RISK MANAGEMENT</a:t>
            </a:r>
          </a:p>
          <a:p>
            <a:pPr>
              <a:defRPr sz="2400" b="1">
                <a:solidFill>
                  <a:srgbClr val="0F172A"/>
                </a:solidFill>
                <a:latin typeface="Calibri"/>
              </a:defRPr>
            </a:pPr>
            <a:r>
              <a:t>Four-Pillar Feasibility Assessment and Engineered Risk Mitigations</a:t>
            </a:r>
          </a:p>
        </p:txBody>
      </p:sp>
      <p:sp>
        <p:nvSpPr>
          <p:cNvPr id="5" name="Rounded Rectangle 4"/>
          <p:cNvSpPr/>
          <p:nvPr/>
        </p:nvSpPr>
        <p:spPr>
          <a:xfrm>
            <a:off x="731520" y="1417320"/>
            <a:ext cx="5212080"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Four-Pillar Feasibility Assessment</a:t>
            </a:r>
          </a:p>
          <a:p>
            <a:pPr>
              <a:spcBef>
                <a:spcPts val="300"/>
              </a:spcBef>
              <a:defRPr sz="1250" b="1">
                <a:solidFill>
                  <a:srgbClr val="1E3A8A"/>
                </a:solidFill>
                <a:latin typeface="Calibri"/>
              </a:defRPr>
            </a:pPr>
            <a:r>
              <a:t>✔ Technical Feasibility:</a:t>
            </a:r>
          </a:p>
          <a:p>
            <a:pPr>
              <a:spcAft>
                <a:spcPts val="600"/>
              </a:spcAft>
              <a:defRPr sz="1150">
                <a:solidFill>
                  <a:srgbClr val="0F172A"/>
                </a:solidFill>
                <a:latin typeface="Calibri"/>
              </a:defRPr>
            </a:pPr>
            <a:r>
              <a:t>High. Python FastAPI and Next.js 14 are proven, containerized in Docker, with 100% automated test suites passing.</a:t>
            </a:r>
          </a:p>
          <a:p>
            <a:pPr>
              <a:spcBef>
                <a:spcPts val="300"/>
              </a:spcBef>
              <a:defRPr sz="1250" b="1">
                <a:solidFill>
                  <a:srgbClr val="1E3A8A"/>
                </a:solidFill>
                <a:latin typeface="Calibri"/>
              </a:defRPr>
            </a:pPr>
            <a:r>
              <a:t>✔ Economic Feasibility:</a:t>
            </a:r>
          </a:p>
          <a:p>
            <a:pPr>
              <a:spcAft>
                <a:spcPts val="600"/>
              </a:spcAft>
              <a:defRPr sz="1150">
                <a:solidFill>
                  <a:srgbClr val="0F172A"/>
                </a:solidFill>
                <a:latin typeface="Calibri"/>
              </a:defRPr>
            </a:pPr>
            <a:r>
              <a:t>Extremely High. Built on 100% open-source libraries. Runs on standard VPS without proprietary hardware purchases.</a:t>
            </a:r>
          </a:p>
          <a:p>
            <a:pPr>
              <a:spcBef>
                <a:spcPts val="300"/>
              </a:spcBef>
              <a:defRPr sz="1250" b="1">
                <a:solidFill>
                  <a:srgbClr val="1E3A8A"/>
                </a:solidFill>
                <a:latin typeface="Calibri"/>
              </a:defRPr>
            </a:pPr>
            <a:r>
              <a:t>✔ Operational Feasibility:</a:t>
            </a:r>
          </a:p>
          <a:p>
            <a:pPr>
              <a:spcAft>
                <a:spcPts val="600"/>
              </a:spcAft>
              <a:defRPr sz="1150">
                <a:solidFill>
                  <a:srgbClr val="0F172A"/>
                </a:solidFill>
                <a:latin typeface="Calibri"/>
              </a:defRPr>
            </a:pPr>
            <a:r>
              <a:t>High. Zero-training senior UI with intuitive real-world metaphors and clear visual widgets for caregivers.</a:t>
            </a:r>
          </a:p>
          <a:p>
            <a:pPr>
              <a:spcBef>
                <a:spcPts val="300"/>
              </a:spcBef>
              <a:defRPr sz="1250" b="1">
                <a:solidFill>
                  <a:srgbClr val="1E3A8A"/>
                </a:solidFill>
                <a:latin typeface="Calibri"/>
              </a:defRPr>
            </a:pPr>
            <a:r>
              <a:t>✔ Legal &amp; Ethical Feasibility:</a:t>
            </a:r>
          </a:p>
          <a:p>
            <a:pPr>
              <a:spcAft>
                <a:spcPts val="600"/>
              </a:spcAft>
              <a:defRPr sz="1150">
                <a:solidFill>
                  <a:srgbClr val="0F172A"/>
                </a:solidFill>
                <a:latin typeface="Calibri"/>
              </a:defRPr>
            </a:pPr>
            <a:r>
              <a:t>Compliant. Enforces HIPAA/GDPR data isolation, explicit caregiver consent, and non-diagnostic boundaries.</a:t>
            </a:r>
          </a:p>
        </p:txBody>
      </p:sp>
      <p:sp>
        <p:nvSpPr>
          <p:cNvPr id="6" name="Rounded Rectangle 5"/>
          <p:cNvSpPr/>
          <p:nvPr/>
        </p:nvSpPr>
        <p:spPr>
          <a:xfrm>
            <a:off x="6217920" y="1417320"/>
            <a:ext cx="5242255"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B91C1C"/>
                </a:solidFill>
                <a:latin typeface="Calibri"/>
              </a:defRPr>
            </a:pPr>
            <a:r>
              <a:t>Risk Register &amp; Concrete Mitigations</a:t>
            </a:r>
          </a:p>
          <a:p>
            <a:pPr>
              <a:defRPr sz="1200" b="1">
                <a:solidFill>
                  <a:srgbClr val="B91C1C"/>
                </a:solidFill>
                <a:latin typeface="Calibri"/>
              </a:defRPr>
            </a:pPr>
            <a:r>
              <a:t>✖ Risk: AI Hallucinations in Health Contexts</a:t>
            </a:r>
          </a:p>
          <a:p>
            <a:pPr>
              <a:spcAft>
                <a:spcPts val="800"/>
              </a:spcAft>
              <a:defRPr sz="1150">
                <a:solidFill>
                  <a:srgbClr val="0F172A"/>
                </a:solidFill>
                <a:latin typeface="Calibri"/>
              </a:defRPr>
            </a:pPr>
            <a:r>
              <a:t>✔ Mitigation: Validation therapy prompts, non-diagnostic disclaimers, and closed-form math scoring.</a:t>
            </a:r>
          </a:p>
          <a:p>
            <a:pPr>
              <a:defRPr sz="1200" b="1">
                <a:solidFill>
                  <a:srgbClr val="B91C1C"/>
                </a:solidFill>
                <a:latin typeface="Calibri"/>
              </a:defRPr>
            </a:pPr>
            <a:r>
              <a:t>✖ Risk: Cloud API Rate Limiting (HTTP 429)</a:t>
            </a:r>
          </a:p>
          <a:p>
            <a:pPr>
              <a:spcAft>
                <a:spcPts val="800"/>
              </a:spcAft>
              <a:defRPr sz="1150">
                <a:solidFill>
                  <a:srgbClr val="0F172A"/>
                </a:solidFill>
                <a:latin typeface="Calibri"/>
              </a:defRPr>
            </a:pPr>
            <a:r>
              <a:t>✔ Mitigation: Automated local fallback engine intercepts 429 errors seamlessly with zero downtime.</a:t>
            </a:r>
          </a:p>
          <a:p>
            <a:pPr>
              <a:defRPr sz="1200" b="1">
                <a:solidFill>
                  <a:srgbClr val="B91C1C"/>
                </a:solidFill>
                <a:latin typeface="Calibri"/>
              </a:defRPr>
            </a:pPr>
            <a:r>
              <a:t>✖ Risk: Sensory Overload in Vulnerable Seniors</a:t>
            </a:r>
          </a:p>
          <a:p>
            <a:pPr>
              <a:spcAft>
                <a:spcPts val="800"/>
              </a:spcAft>
              <a:defRPr sz="1150">
                <a:solidFill>
                  <a:srgbClr val="0F172A"/>
                </a:solidFill>
                <a:latin typeface="Calibri"/>
              </a:defRPr>
            </a:pPr>
            <a:r>
              <a:t>✔ Mitigation: Audio speech is opt-in (default OFF) with an instant 'Stop Speaking' button.</a:t>
            </a:r>
          </a:p>
          <a:p>
            <a:pPr>
              <a:defRPr sz="1200" b="1">
                <a:solidFill>
                  <a:srgbClr val="B91C1C"/>
                </a:solidFill>
                <a:latin typeface="Calibri"/>
              </a:defRPr>
            </a:pPr>
            <a:r>
              <a:t>✖ Risk: Network Disruptions &amp; Disconnection</a:t>
            </a:r>
          </a:p>
          <a:p>
            <a:pPr>
              <a:spcAft>
                <a:spcPts val="800"/>
              </a:spcAft>
              <a:defRPr sz="1150">
                <a:solidFill>
                  <a:srgbClr val="0F172A"/>
                </a:solidFill>
                <a:latin typeface="Calibri"/>
              </a:defRPr>
            </a:pPr>
            <a:r>
              <a:t>✔ Mitigation: Next.js PWA service worker caching and IndexedDB offline persistence.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2E8F0"/>
                </a:solidFill>
                <a:latin typeface="Calibri"/>
              </a:defRPr>
            </a:pPr>
            <a:r>
              <a:t>BENNETT UNIVERSITY  •  SCHOOL OF ENGINEERING &amp; APPLIED SCIENCES  •  CSET400C CAPSTONE PROJECT</a:t>
            </a:r>
          </a:p>
        </p:txBody>
      </p:sp>
      <p:sp>
        <p:nvSpPr>
          <p:cNvPr id="4" name="TextBox 3"/>
          <p:cNvSpPr txBox="1"/>
          <p:nvPr/>
        </p:nvSpPr>
        <p:spPr>
          <a:xfrm>
            <a:off x="731520" y="502920"/>
            <a:ext cx="10728655" cy="777240"/>
          </a:xfrm>
          <a:prstGeom prst="rect">
            <a:avLst/>
          </a:prstGeom>
          <a:noFill/>
        </p:spPr>
        <p:txBody>
          <a:bodyPr wrap="square">
            <a:spAutoFit/>
          </a:bodyPr>
          <a:lstStyle/>
          <a:p>
            <a:pPr>
              <a:defRPr sz="1100" b="1">
                <a:solidFill>
                  <a:srgbClr val="1E3A8A"/>
                </a:solidFill>
                <a:latin typeface="Calibri"/>
              </a:defRPr>
            </a:pPr>
            <a:r>
              <a:t>09 • PROJECT ROADMAP, WORK BREAKDOWN &amp; DELIVERABLES</a:t>
            </a:r>
          </a:p>
          <a:p>
            <a:pPr>
              <a:defRPr sz="2400" b="1">
                <a:solidFill>
                  <a:srgbClr val="0F172A"/>
                </a:solidFill>
                <a:latin typeface="Calibri"/>
              </a:defRPr>
            </a:pPr>
            <a:r>
              <a:t>Milestone Schedule, Team Allocations and Tangible Outcomes</a:t>
            </a:r>
          </a:p>
        </p:txBody>
      </p:sp>
      <p:sp>
        <p:nvSpPr>
          <p:cNvPr id="5" name="Rounded Rectangle 4"/>
          <p:cNvSpPr/>
          <p:nvPr/>
        </p:nvSpPr>
        <p:spPr>
          <a:xfrm>
            <a:off x="731520" y="1417320"/>
            <a:ext cx="3322015"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Milestone Schedule</a:t>
            </a:r>
          </a:p>
          <a:p>
            <a:pPr>
              <a:defRPr sz="1200" b="1">
                <a:solidFill>
                  <a:srgbClr val="1E3A8A"/>
                </a:solidFill>
                <a:latin typeface="Calibri"/>
              </a:defRPr>
            </a:pPr>
            <a:r>
              <a:t>Milestone 0 (Aug 2026)</a:t>
            </a:r>
          </a:p>
          <a:p>
            <a:pPr>
              <a:defRPr sz="1100" b="1">
                <a:solidFill>
                  <a:srgbClr val="D97706"/>
                </a:solidFill>
                <a:latin typeface="Calibri"/>
              </a:defRPr>
            </a:pPr>
            <a:r>
              <a:t>Status: Completed</a:t>
            </a:r>
          </a:p>
          <a:p>
            <a:pPr>
              <a:spcAft>
                <a:spcPts val="800"/>
              </a:spcAft>
              <a:defRPr sz="1100">
                <a:solidFill>
                  <a:srgbClr val="475569"/>
                </a:solidFill>
                <a:latin typeface="Calibri"/>
              </a:defRPr>
            </a:pPr>
            <a:r>
              <a:t>Problem identification, group formation, and SDG alignment.</a:t>
            </a:r>
          </a:p>
          <a:p>
            <a:pPr>
              <a:defRPr sz="1200" b="1">
                <a:solidFill>
                  <a:srgbClr val="1E3A8A"/>
                </a:solidFill>
                <a:latin typeface="Calibri"/>
              </a:defRPr>
            </a:pPr>
            <a:r>
              <a:t>Milestone 1 (Oct 2026)</a:t>
            </a:r>
          </a:p>
          <a:p>
            <a:pPr>
              <a:defRPr sz="1100" b="1">
                <a:solidFill>
                  <a:srgbClr val="D97706"/>
                </a:solidFill>
                <a:latin typeface="Calibri"/>
              </a:defRPr>
            </a:pPr>
            <a:r>
              <a:t>Status: Current (30 Marks)</a:t>
            </a:r>
          </a:p>
          <a:p>
            <a:pPr>
              <a:spcAft>
                <a:spcPts val="800"/>
              </a:spcAft>
              <a:defRPr sz="1100">
                <a:solidFill>
                  <a:srgbClr val="475569"/>
                </a:solidFill>
                <a:latin typeface="Calibri"/>
              </a:defRPr>
            </a:pPr>
            <a:r>
              <a:t>Proposal report, literature benchmarking, and 10-slide oral defense.</a:t>
            </a:r>
          </a:p>
          <a:p>
            <a:pPr>
              <a:defRPr sz="1200" b="1">
                <a:solidFill>
                  <a:srgbClr val="1E3A8A"/>
                </a:solidFill>
                <a:latin typeface="Calibri"/>
              </a:defRPr>
            </a:pPr>
            <a:r>
              <a:t>Milestone 2 (Nov 2026)</a:t>
            </a:r>
          </a:p>
          <a:p>
            <a:pPr>
              <a:defRPr sz="1100" b="1">
                <a:solidFill>
                  <a:srgbClr val="D97706"/>
                </a:solidFill>
                <a:latin typeface="Calibri"/>
              </a:defRPr>
            </a:pPr>
            <a:r>
              <a:t>Status: Upcoming (30 Marks)</a:t>
            </a:r>
          </a:p>
          <a:p>
            <a:pPr>
              <a:spcAft>
                <a:spcPts val="800"/>
              </a:spcAft>
              <a:defRPr sz="1100">
                <a:solidFill>
                  <a:srgbClr val="475569"/>
                </a:solidFill>
                <a:latin typeface="Calibri"/>
              </a:defRPr>
            </a:pPr>
            <a:r>
              <a:t>MVP prototype, activity catalog, dual AI integration, and user tests.</a:t>
            </a:r>
          </a:p>
          <a:p>
            <a:pPr>
              <a:defRPr sz="1200" b="1">
                <a:solidFill>
                  <a:srgbClr val="1E3A8A"/>
                </a:solidFill>
                <a:latin typeface="Calibri"/>
              </a:defRPr>
            </a:pPr>
            <a:r>
              <a:t>Final Defense (Dec 2026)</a:t>
            </a:r>
          </a:p>
          <a:p>
            <a:pPr>
              <a:defRPr sz="1100" b="1">
                <a:solidFill>
                  <a:srgbClr val="D97706"/>
                </a:solidFill>
                <a:latin typeface="Calibri"/>
              </a:defRPr>
            </a:pPr>
            <a:r>
              <a:t>Status: Upcoming (40 Marks)</a:t>
            </a:r>
          </a:p>
          <a:p>
            <a:pPr>
              <a:spcAft>
                <a:spcPts val="800"/>
              </a:spcAft>
              <a:defRPr sz="1100">
                <a:solidFill>
                  <a:srgbClr val="475569"/>
                </a:solidFill>
                <a:latin typeface="Calibri"/>
              </a:defRPr>
            </a:pPr>
            <a:r>
              <a:t>20–40 page formal report, live system demonstration, and panel viva.</a:t>
            </a:r>
          </a:p>
        </p:txBody>
      </p:sp>
      <p:sp>
        <p:nvSpPr>
          <p:cNvPr id="6" name="Rounded Rectangle 5"/>
          <p:cNvSpPr/>
          <p:nvPr/>
        </p:nvSpPr>
        <p:spPr>
          <a:xfrm>
            <a:off x="4434840" y="1417320"/>
            <a:ext cx="3322015"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0D9488"/>
                </a:solidFill>
                <a:latin typeface="Calibri"/>
              </a:defRPr>
            </a:pPr>
            <a:r>
              <a:t>Team Role Allocation</a:t>
            </a:r>
          </a:p>
          <a:p>
            <a:pPr>
              <a:spcBef>
                <a:spcPts val="200"/>
              </a:spcBef>
              <a:defRPr sz="1200" b="1">
                <a:solidFill>
                  <a:srgbClr val="0F172A"/>
                </a:solidFill>
                <a:latin typeface="Calibri"/>
              </a:defRPr>
            </a:pPr>
            <a:r>
              <a:t>Deepanshu Chauhan (Leader - E23CSEU1617)</a:t>
            </a:r>
          </a:p>
          <a:p>
            <a:pPr>
              <a:lnSpc>
                <a:spcPct val="125000"/>
              </a:lnSpc>
              <a:spcAft>
                <a:spcPts val="800"/>
              </a:spcAft>
              <a:defRPr sz="1100">
                <a:solidFill>
                  <a:srgbClr val="475569"/>
                </a:solidFill>
                <a:latin typeface="Calibri"/>
              </a:defRPr>
            </a:pPr>
            <a:r>
              <a:t>• System Architecture &amp; Docker</a:t>
            </a:r>
            <a:br/>
            <a:r>
              <a:t>• FastAPI Core &amp; Async Routing</a:t>
            </a:r>
            <a:br/>
            <a:r>
              <a:t>• Gemini AI Dual-Mode Orchestration</a:t>
            </a:r>
            <a:br/>
            <a:r>
              <a:t>• Milestone 1 Defense Coordination</a:t>
            </a:r>
          </a:p>
          <a:p>
            <a:pPr>
              <a:spcBef>
                <a:spcPts val="200"/>
              </a:spcBef>
              <a:defRPr sz="1200" b="1">
                <a:solidFill>
                  <a:srgbClr val="0F172A"/>
                </a:solidFill>
                <a:latin typeface="Calibri"/>
              </a:defRPr>
            </a:pPr>
            <a:r>
              <a:t>Yash (Member 1 - E23CSEU1493)</a:t>
            </a:r>
          </a:p>
          <a:p>
            <a:pPr>
              <a:lnSpc>
                <a:spcPct val="125000"/>
              </a:lnSpc>
              <a:spcAft>
                <a:spcPts val="800"/>
              </a:spcAft>
              <a:defRPr sz="1100">
                <a:solidFill>
                  <a:srgbClr val="475569"/>
                </a:solidFill>
                <a:latin typeface="Calibri"/>
              </a:defRPr>
            </a:pPr>
            <a:r>
              <a:t>• Next.js 14 App Router UI</a:t>
            </a:r>
            <a:br/>
            <a:r>
              <a:t>• WCAG 2.2 AA Accessibility Engine</a:t>
            </a:r>
            <a:br/>
            <a:r>
              <a:t>• Interactive Cognitive Games</a:t>
            </a:r>
            <a:br/>
            <a:r>
              <a:t>• Frontend Component Vitest Suite</a:t>
            </a:r>
          </a:p>
          <a:p>
            <a:pPr>
              <a:spcBef>
                <a:spcPts val="200"/>
              </a:spcBef>
              <a:defRPr sz="1200" b="1">
                <a:solidFill>
                  <a:srgbClr val="0F172A"/>
                </a:solidFill>
                <a:latin typeface="Calibri"/>
              </a:defRPr>
            </a:pPr>
            <a:r>
              <a:t>Piyush (Member 2 - E23CSEU0853)</a:t>
            </a:r>
          </a:p>
          <a:p>
            <a:pPr>
              <a:lnSpc>
                <a:spcPct val="125000"/>
              </a:lnSpc>
              <a:spcAft>
                <a:spcPts val="800"/>
              </a:spcAft>
              <a:defRPr sz="1100">
                <a:solidFill>
                  <a:srgbClr val="475569"/>
                </a:solidFill>
                <a:latin typeface="Calibri"/>
              </a:defRPr>
            </a:pPr>
            <a:r>
              <a:t>• PostgreSQL 16 Relational Schemas</a:t>
            </a:r>
            <a:br/>
            <a:r>
              <a:t>• Deterministic State Machines</a:t>
            </a:r>
            <a:br/>
            <a:r>
              <a:t>• Closed-form Scoring Implementation</a:t>
            </a:r>
            <a:br/>
            <a:r>
              <a:t>• Automated Pytest Verification</a:t>
            </a:r>
          </a:p>
        </p:txBody>
      </p:sp>
      <p:sp>
        <p:nvSpPr>
          <p:cNvPr id="7" name="Rounded Rectangle 6"/>
          <p:cNvSpPr/>
          <p:nvPr/>
        </p:nvSpPr>
        <p:spPr>
          <a:xfrm>
            <a:off x="8138160" y="1417320"/>
            <a:ext cx="3322015" cy="4892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800"/>
              </a:spcAft>
              <a:defRPr sz="1600" b="1">
                <a:solidFill>
                  <a:srgbClr val="1E3A8A"/>
                </a:solidFill>
                <a:latin typeface="Calibri"/>
              </a:defRPr>
            </a:pPr>
            <a:r>
              <a:t>Tangible Outcomes</a:t>
            </a:r>
          </a:p>
          <a:p>
            <a:pPr>
              <a:spcAft>
                <a:spcPts val="400"/>
              </a:spcAft>
              <a:defRPr sz="1200" b="1">
                <a:solidFill>
                  <a:srgbClr val="1E3A8A"/>
                </a:solidFill>
                <a:latin typeface="Calibri"/>
              </a:defRPr>
            </a:pPr>
            <a:r>
              <a:t>MILESTONE 1 DELIVERABLES:</a:t>
            </a:r>
          </a:p>
          <a:p>
            <a:pPr>
              <a:lnSpc>
                <a:spcPct val="130000"/>
              </a:lnSpc>
              <a:spcAft>
                <a:spcPts val="1200"/>
              </a:spcAft>
              <a:defRPr sz="1150">
                <a:solidFill>
                  <a:srgbClr val="0F172A"/>
                </a:solidFill>
                <a:latin typeface="Calibri"/>
              </a:defRPr>
            </a:pPr>
            <a:r>
              <a:t>✔ Formal Proposal Word &amp; Markdown Reports</a:t>
            </a:r>
            <a:br/>
            <a:r>
              <a:t>✔ 10-Slide Professional Presentation Deck</a:t>
            </a:r>
            <a:br/>
            <a:r>
              <a:t>✔ Comprehensive Oral Defense Script</a:t>
            </a:r>
          </a:p>
          <a:p>
            <a:pPr>
              <a:spcAft>
                <a:spcPts val="400"/>
              </a:spcAft>
              <a:defRPr sz="1200" b="1">
                <a:solidFill>
                  <a:srgbClr val="0D9488"/>
                </a:solidFill>
                <a:latin typeface="Calibri"/>
              </a:defRPr>
            </a:pPr>
            <a:r>
              <a:t>FINAL PROJECT OUTCOMES:</a:t>
            </a:r>
          </a:p>
          <a:p>
            <a:pPr>
              <a:lnSpc>
                <a:spcPct val="130000"/>
              </a:lnSpc>
              <a:defRPr sz="1150">
                <a:solidFill>
                  <a:srgbClr val="0F172A"/>
                </a:solidFill>
                <a:latin typeface="Calibri"/>
              </a:defRPr>
            </a:pPr>
            <a:r>
              <a:t>✔ Production Docker Application</a:t>
            </a:r>
            <a:br/>
            <a:r>
              <a:t>✔ WCAG 2.2 AA Senior Companion</a:t>
            </a:r>
            <a:br/>
            <a:r>
              <a:t>✔ Real-Time Caregiver Radar Tower</a:t>
            </a:r>
            <a:br/>
            <a:r>
              <a:t>✔ Open-Source Extensible Codebase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